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98" d="100"/>
          <a:sy n="98" d="100"/>
        </p:scale>
        <p:origin x="27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37E96-1456-4BE3-9DF5-874FE393C122}" type="datetimeFigureOut">
              <a:rPr lang="ro-RO" smtClean="0"/>
              <a:t>07.01.2026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05B8392A-BFC8-440B-9DBE-1A28A08F5BEC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36326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37E96-1456-4BE3-9DF5-874FE393C122}" type="datetimeFigureOut">
              <a:rPr lang="ro-RO" smtClean="0"/>
              <a:t>07.01.2026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8392A-BFC8-440B-9DBE-1A28A08F5BEC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98907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37E96-1456-4BE3-9DF5-874FE393C122}" type="datetimeFigureOut">
              <a:rPr lang="ro-RO" smtClean="0"/>
              <a:t>07.01.2026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5B8392A-BFC8-440B-9DBE-1A28A08F5BEC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633374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37E96-1456-4BE3-9DF5-874FE393C122}" type="datetimeFigureOut">
              <a:rPr lang="ro-RO" smtClean="0"/>
              <a:t>07.01.2026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5B8392A-BFC8-440B-9DBE-1A28A08F5BEC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99967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37E96-1456-4BE3-9DF5-874FE393C122}" type="datetimeFigureOut">
              <a:rPr lang="ro-RO" smtClean="0"/>
              <a:t>07.01.2026</a:t>
            </a:fld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5B8392A-BFC8-440B-9DBE-1A28A08F5BEC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88184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37E96-1456-4BE3-9DF5-874FE393C122}" type="datetimeFigureOut">
              <a:rPr lang="ro-RO" smtClean="0"/>
              <a:t>07.01.2026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8392A-BFC8-440B-9DBE-1A28A08F5BEC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94751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37E96-1456-4BE3-9DF5-874FE393C122}" type="datetimeFigureOut">
              <a:rPr lang="ro-RO" smtClean="0"/>
              <a:t>07.01.2026</a:t>
            </a:fld>
            <a:endParaRPr lang="ro-R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8392A-BFC8-440B-9DBE-1A28A08F5BEC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89892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37E96-1456-4BE3-9DF5-874FE393C122}" type="datetimeFigureOut">
              <a:rPr lang="ro-RO" smtClean="0"/>
              <a:t>07.01.2026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8392A-BFC8-440B-9DBE-1A28A08F5BEC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68985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37E96-1456-4BE3-9DF5-874FE393C122}" type="datetimeFigureOut">
              <a:rPr lang="ro-RO" smtClean="0"/>
              <a:t>07.01.2026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5B8392A-BFC8-440B-9DBE-1A28A08F5BEC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017317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37E96-1456-4BE3-9DF5-874FE393C122}" type="datetimeFigureOut">
              <a:rPr lang="ro-RO" smtClean="0"/>
              <a:t>07.01.2026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5B8392A-BFC8-440B-9DBE-1A28A08F5BEC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39211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37E96-1456-4BE3-9DF5-874FE393C122}" type="datetimeFigureOut">
              <a:rPr lang="ro-RO" smtClean="0"/>
              <a:t>07.01.2026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5B8392A-BFC8-440B-9DBE-1A28A08F5BEC}" type="slidenum">
              <a:rPr lang="ro-RO" smtClean="0"/>
              <a:t>‹#›</a:t>
            </a:fld>
            <a:endParaRPr lang="ro-RO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110643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37E96-1456-4BE3-9DF5-874FE393C122}" type="datetimeFigureOut">
              <a:rPr lang="ro-RO" smtClean="0"/>
              <a:t>07.01.2026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5B8392A-BFC8-440B-9DBE-1A28A08F5BEC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91327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37E96-1456-4BE3-9DF5-874FE393C122}" type="datetimeFigureOut">
              <a:rPr lang="ro-RO" smtClean="0"/>
              <a:t>07.01.2026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5B8392A-BFC8-440B-9DBE-1A28A08F5BEC}" type="slidenum">
              <a:rPr lang="ro-RO" smtClean="0"/>
              <a:t>‹#›</a:t>
            </a:fld>
            <a:endParaRPr lang="ro-RO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13957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37E96-1456-4BE3-9DF5-874FE393C122}" type="datetimeFigureOut">
              <a:rPr lang="ro-RO" smtClean="0"/>
              <a:t>07.01.2026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5B8392A-BFC8-440B-9DBE-1A28A08F5BEC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9537295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37E96-1456-4BE3-9DF5-874FE393C122}" type="datetimeFigureOut">
              <a:rPr lang="ro-RO" smtClean="0"/>
              <a:t>07.01.2026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8392A-BFC8-440B-9DBE-1A28A08F5BEC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396102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37E96-1456-4BE3-9DF5-874FE393C122}" type="datetimeFigureOut">
              <a:rPr lang="ro-RO" smtClean="0"/>
              <a:t>07.01.2026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8392A-BFC8-440B-9DBE-1A28A08F5BEC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26272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037E96-1456-4BE3-9DF5-874FE393C122}" type="datetimeFigureOut">
              <a:rPr lang="ro-RO" smtClean="0"/>
              <a:t>07.01.2026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05B8392A-BFC8-440B-9DBE-1A28A08F5BEC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55019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0">
              <a:schemeClr val="accent2">
                <a:lumMod val="40000"/>
                <a:lumOff val="60000"/>
              </a:schemeClr>
            </a:gs>
            <a:gs pos="72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7C0B4-A786-7F0A-C7B1-2BEE014376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9909" y="530352"/>
            <a:ext cx="4579683" cy="2262781"/>
          </a:xfrm>
        </p:spPr>
        <p:txBody>
          <a:bodyPr/>
          <a:lstStyle/>
          <a:p>
            <a:r>
              <a:rPr lang="en-US" sz="5000" dirty="0">
                <a:solidFill>
                  <a:srgbClr val="0070C0"/>
                </a:solidFill>
              </a:rPr>
              <a:t>ARX </a:t>
            </a:r>
            <a:r>
              <a:rPr lang="en-US" sz="5000" dirty="0" err="1">
                <a:solidFill>
                  <a:srgbClr val="0070C0"/>
                </a:solidFill>
              </a:rPr>
              <a:t>Neliniar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dirty="0">
                <a:solidFill>
                  <a:srgbClr val="0070C0"/>
                </a:solidFill>
              </a:rPr>
              <a:t>Gr 11/1</a:t>
            </a:r>
            <a:endParaRPr lang="ro-RO" dirty="0">
              <a:solidFill>
                <a:srgbClr val="0070C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D0C4AE-7531-0ECF-CCD2-DD53315397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8300" y="4064868"/>
            <a:ext cx="8915399" cy="1806301"/>
          </a:xfrm>
        </p:spPr>
        <p:txBody>
          <a:bodyPr>
            <a:noAutofit/>
          </a:bodyPr>
          <a:lstStyle/>
          <a:p>
            <a:r>
              <a:rPr lang="en-US" sz="2400" dirty="0" err="1">
                <a:solidFill>
                  <a:srgbClr val="0070C0"/>
                </a:solidFill>
              </a:rPr>
              <a:t>Proiect</a:t>
            </a:r>
            <a:r>
              <a:rPr lang="en-US" sz="2400" dirty="0">
                <a:solidFill>
                  <a:srgbClr val="0070C0"/>
                </a:solidFill>
              </a:rPr>
              <a:t> – </a:t>
            </a:r>
            <a:r>
              <a:rPr lang="en-US" sz="2400" dirty="0" err="1">
                <a:solidFill>
                  <a:srgbClr val="0070C0"/>
                </a:solidFill>
              </a:rPr>
              <a:t>partea</a:t>
            </a:r>
            <a:r>
              <a:rPr lang="en-US" sz="2400" dirty="0">
                <a:solidFill>
                  <a:srgbClr val="0070C0"/>
                </a:solidFill>
              </a:rPr>
              <a:t> 2 : Almasan Antonio</a:t>
            </a:r>
          </a:p>
          <a:p>
            <a:r>
              <a:rPr lang="en-US" sz="2400" dirty="0">
                <a:solidFill>
                  <a:srgbClr val="0070C0"/>
                </a:solidFill>
              </a:rPr>
              <a:t>				     		 </a:t>
            </a:r>
            <a:r>
              <a:rPr lang="en-US" sz="2400" dirty="0" err="1">
                <a:solidFill>
                  <a:srgbClr val="0070C0"/>
                </a:solidFill>
              </a:rPr>
              <a:t>Culda</a:t>
            </a:r>
            <a:r>
              <a:rPr lang="en-US" sz="2400" dirty="0">
                <a:solidFill>
                  <a:srgbClr val="0070C0"/>
                </a:solidFill>
              </a:rPr>
              <a:t> Alisa</a:t>
            </a:r>
          </a:p>
          <a:p>
            <a:r>
              <a:rPr lang="en-US" sz="2400" dirty="0">
                <a:solidFill>
                  <a:srgbClr val="0070C0"/>
                </a:solidFill>
              </a:rPr>
              <a:t>				     	       Motoc Amelie</a:t>
            </a:r>
            <a:endParaRPr lang="ro-RO" sz="2400" dirty="0">
              <a:solidFill>
                <a:srgbClr val="0070C0"/>
              </a:solidFill>
            </a:endParaRPr>
          </a:p>
        </p:txBody>
      </p:sp>
      <p:pic>
        <p:nvPicPr>
          <p:cNvPr id="5" name="Imagine 4" descr="O imagine care conține linie, diagramă, cerc&#10;&#10;Conținutul generat de inteligența artificială poate fi incorect.">
            <a:extLst>
              <a:ext uri="{FF2B5EF4-FFF2-40B4-BE49-F238E27FC236}">
                <a16:creationId xmlns:a16="http://schemas.microsoft.com/office/drawing/2014/main" id="{7FDD4A59-37E1-BADD-C5DE-EC107E46E3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7055" y="695433"/>
            <a:ext cx="4738253" cy="299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956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69798-668F-3CF3-2187-DA1FC14C6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326136"/>
            <a:ext cx="6181345" cy="917448"/>
          </a:xfrm>
        </p:spPr>
        <p:txBody>
          <a:bodyPr>
            <a:normAutofit/>
          </a:bodyPr>
          <a:lstStyle/>
          <a:p>
            <a:r>
              <a:rPr lang="en-US" sz="3600" dirty="0" err="1">
                <a:solidFill>
                  <a:srgbClr val="0070C0"/>
                </a:solidFill>
              </a:rPr>
              <a:t>Descrierea</a:t>
            </a:r>
            <a:r>
              <a:rPr lang="en-US" sz="3600" dirty="0">
                <a:solidFill>
                  <a:srgbClr val="0070C0"/>
                </a:solidFill>
              </a:rPr>
              <a:t> </a:t>
            </a:r>
            <a:r>
              <a:rPr lang="en-US" sz="3600" dirty="0" err="1">
                <a:solidFill>
                  <a:srgbClr val="0070C0"/>
                </a:solidFill>
              </a:rPr>
              <a:t>problemei</a:t>
            </a:r>
            <a:endParaRPr lang="ro-RO" sz="3600" dirty="0">
              <a:solidFill>
                <a:srgbClr val="0070C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7A58DB-CB46-2D02-EE28-1FFC013603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4790" y="1110522"/>
            <a:ext cx="8915399" cy="155586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 ~ </a:t>
            </a:r>
            <a:r>
              <a:rPr lang="en-US" dirty="0" err="1"/>
              <a:t>dezvoltarea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model </a:t>
            </a:r>
            <a:r>
              <a:rPr lang="en-US" dirty="0" err="1"/>
              <a:t>folosind</a:t>
            </a:r>
            <a:r>
              <a:rPr lang="en-US" dirty="0"/>
              <a:t> </a:t>
            </a:r>
            <a:r>
              <a:rPr lang="en-US" dirty="0" err="1"/>
              <a:t>structura</a:t>
            </a:r>
            <a:r>
              <a:rPr lang="en-US" dirty="0"/>
              <a:t> ARX </a:t>
            </a:r>
            <a:r>
              <a:rPr lang="en-US" dirty="0" err="1"/>
              <a:t>neliniara</a:t>
            </a:r>
            <a:endParaRPr lang="en-US" dirty="0"/>
          </a:p>
          <a:p>
            <a:r>
              <a:rPr lang="en-US" dirty="0"/>
              <a:t> ~ </a:t>
            </a:r>
            <a:r>
              <a:rPr lang="en-US" dirty="0" err="1"/>
              <a:t>sistem</a:t>
            </a:r>
            <a:r>
              <a:rPr lang="en-US" dirty="0"/>
              <a:t> cu o </a:t>
            </a:r>
            <a:r>
              <a:rPr lang="en-US" dirty="0" err="1"/>
              <a:t>intrare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iesire</a:t>
            </a:r>
            <a:endParaRPr lang="en-US" dirty="0"/>
          </a:p>
          <a:p>
            <a:r>
              <a:rPr lang="en-US" dirty="0"/>
              <a:t> ~ </a:t>
            </a:r>
            <a:r>
              <a:rPr lang="en-US" dirty="0" err="1"/>
              <a:t>regresie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identificarea</a:t>
            </a:r>
            <a:r>
              <a:rPr lang="en-US" dirty="0"/>
              <a:t> </a:t>
            </a:r>
            <a:r>
              <a:rPr lang="en-US" dirty="0" err="1"/>
              <a:t>paramterilor</a:t>
            </a:r>
            <a:endParaRPr lang="en-US" dirty="0"/>
          </a:p>
          <a:p>
            <a:r>
              <a:rPr lang="en-US" dirty="0"/>
              <a:t> ~ </a:t>
            </a:r>
            <a:r>
              <a:rPr lang="en-US" dirty="0" err="1"/>
              <a:t>utilizarea</a:t>
            </a:r>
            <a:r>
              <a:rPr lang="en-US" dirty="0"/>
              <a:t> </a:t>
            </a:r>
            <a:r>
              <a:rPr lang="en-US" dirty="0" err="1"/>
              <a:t>modelului</a:t>
            </a:r>
            <a:r>
              <a:rPr lang="en-US" dirty="0"/>
              <a:t> cu </a:t>
            </a:r>
            <a:r>
              <a:rPr lang="en-US" dirty="0" err="1"/>
              <a:t>intrari</a:t>
            </a:r>
            <a:r>
              <a:rPr lang="en-US" dirty="0"/>
              <a:t> </a:t>
            </a:r>
            <a:r>
              <a:rPr lang="en-US" dirty="0" err="1"/>
              <a:t>noi</a:t>
            </a:r>
            <a:endParaRPr lang="en-US" dirty="0"/>
          </a:p>
          <a:p>
            <a:r>
              <a:rPr lang="en-US" dirty="0"/>
              <a:t> ~ </a:t>
            </a:r>
            <a:r>
              <a:rPr lang="en-US" dirty="0" err="1"/>
              <a:t>identificarea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valiadrea</a:t>
            </a:r>
            <a:r>
              <a:rPr lang="en-US" dirty="0"/>
              <a:t> </a:t>
            </a:r>
            <a:r>
              <a:rPr lang="en-US" dirty="0" err="1"/>
              <a:t>problemei</a:t>
            </a:r>
            <a:r>
              <a:rPr lang="en-US" dirty="0"/>
              <a:t> pe date </a:t>
            </a:r>
            <a:r>
              <a:rPr lang="en-US" dirty="0" err="1"/>
              <a:t>experimentale</a:t>
            </a:r>
            <a:endParaRPr lang="ro-RO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818F88-E586-30F6-3400-D544194D2C1B}"/>
              </a:ext>
            </a:extLst>
          </p:cNvPr>
          <p:cNvSpPr txBox="1"/>
          <p:nvPr/>
        </p:nvSpPr>
        <p:spPr>
          <a:xfrm>
            <a:off x="1634358" y="3381703"/>
            <a:ext cx="8923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Cand sa </a:t>
            </a:r>
            <a:r>
              <a:rPr lang="en-US" sz="2000" dirty="0" err="1"/>
              <a:t>alegi</a:t>
            </a:r>
            <a:r>
              <a:rPr lang="en-US" sz="2000" dirty="0"/>
              <a:t> ARX </a:t>
            </a:r>
            <a:r>
              <a:rPr lang="en-US" sz="2000" dirty="0" err="1"/>
              <a:t>si</a:t>
            </a:r>
            <a:r>
              <a:rPr lang="en-US" sz="2000" dirty="0"/>
              <a:t> cand </a:t>
            </a:r>
            <a:r>
              <a:rPr lang="en-US" sz="2000" dirty="0" err="1"/>
              <a:t>Narx</a:t>
            </a:r>
            <a:r>
              <a:rPr lang="en-US" sz="2000" dirty="0"/>
              <a:t>?</a:t>
            </a:r>
            <a:endParaRPr lang="ro-RO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4F1C33-822E-93AE-8944-9F77F96F830E}"/>
              </a:ext>
            </a:extLst>
          </p:cNvPr>
          <p:cNvSpPr txBox="1"/>
          <p:nvPr/>
        </p:nvSpPr>
        <p:spPr>
          <a:xfrm>
            <a:off x="1989608" y="3781813"/>
            <a:ext cx="917553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ARX LINIAR:</a:t>
            </a:r>
          </a:p>
          <a:p>
            <a:r>
              <a:rPr lang="en-US" dirty="0"/>
              <a:t> ~ </a:t>
            </a:r>
            <a:r>
              <a:rPr lang="en-US" dirty="0" err="1"/>
              <a:t>sisteme</a:t>
            </a:r>
            <a:r>
              <a:rPr lang="en-US" dirty="0"/>
              <a:t> cu </a:t>
            </a:r>
            <a:r>
              <a:rPr lang="en-US" dirty="0" err="1"/>
              <a:t>dinamica</a:t>
            </a:r>
            <a:r>
              <a:rPr lang="en-US" dirty="0"/>
              <a:t> </a:t>
            </a:r>
            <a:r>
              <a:rPr lang="en-US" dirty="0" err="1"/>
              <a:t>simpla</a:t>
            </a:r>
            <a:endParaRPr lang="en-US" dirty="0"/>
          </a:p>
          <a:p>
            <a:r>
              <a:rPr lang="en-US" dirty="0"/>
              <a:t> ~ date </a:t>
            </a:r>
            <a:r>
              <a:rPr lang="en-US" dirty="0" err="1"/>
              <a:t>limitate</a:t>
            </a:r>
            <a:endParaRPr lang="en-US" dirty="0"/>
          </a:p>
          <a:p>
            <a:r>
              <a:rPr lang="en-US" dirty="0"/>
              <a:t> ~ </a:t>
            </a:r>
            <a:r>
              <a:rPr lang="en-US" dirty="0" err="1"/>
              <a:t>neliniaritati</a:t>
            </a:r>
            <a:r>
              <a:rPr lang="en-US" dirty="0"/>
              <a:t> </a:t>
            </a:r>
            <a:r>
              <a:rPr lang="en-US" dirty="0" err="1"/>
              <a:t>semnificative</a:t>
            </a:r>
            <a:endParaRPr lang="en-US" dirty="0"/>
          </a:p>
          <a:p>
            <a:endParaRPr lang="en-US" dirty="0"/>
          </a:p>
          <a:p>
            <a:r>
              <a:rPr lang="en-US" dirty="0"/>
              <a:t>ARX NELINIAR: </a:t>
            </a:r>
          </a:p>
          <a:p>
            <a:r>
              <a:rPr lang="en-US" dirty="0"/>
              <a:t> ~</a:t>
            </a:r>
            <a:r>
              <a:rPr lang="en-US" dirty="0" err="1"/>
              <a:t>sisteme</a:t>
            </a:r>
            <a:r>
              <a:rPr lang="en-US" dirty="0"/>
              <a:t> cu </a:t>
            </a:r>
            <a:r>
              <a:rPr lang="en-US" dirty="0" err="1"/>
              <a:t>neliniaritati</a:t>
            </a:r>
            <a:r>
              <a:rPr lang="en-US" dirty="0"/>
              <a:t> </a:t>
            </a:r>
            <a:r>
              <a:rPr lang="en-US" dirty="0" err="1"/>
              <a:t>pronuntate</a:t>
            </a:r>
            <a:endParaRPr lang="en-US" dirty="0"/>
          </a:p>
          <a:p>
            <a:r>
              <a:rPr lang="en-US" dirty="0"/>
              <a:t>~ date </a:t>
            </a:r>
            <a:r>
              <a:rPr lang="en-US" dirty="0" err="1"/>
              <a:t>suficiente</a:t>
            </a:r>
            <a:r>
              <a:rPr lang="en-US" dirty="0"/>
              <a:t> 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526437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766B8-43C6-2C9E-5BC4-C92BF4750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3933" y="276637"/>
            <a:ext cx="3503076" cy="1280890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ARX </a:t>
            </a:r>
            <a:endParaRPr lang="ro-RO" dirty="0">
              <a:solidFill>
                <a:srgbClr val="0070C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092D12-8CD7-B2A2-1488-36372B1EBFE0}"/>
              </a:ext>
            </a:extLst>
          </p:cNvPr>
          <p:cNvSpPr txBox="1"/>
          <p:nvPr/>
        </p:nvSpPr>
        <p:spPr>
          <a:xfrm>
            <a:off x="1678525" y="680364"/>
            <a:ext cx="3890171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b="0" i="0" dirty="0">
              <a:effectLst/>
              <a:latin typeface="KaTeX_Main"/>
            </a:endParaRPr>
          </a:p>
          <a:p>
            <a:pPr algn="l"/>
            <a:r>
              <a:rPr lang="ro-RO" sz="2000" b="1" i="0" dirty="0">
                <a:solidFill>
                  <a:srgbClr val="0070C0"/>
                </a:solidFill>
                <a:effectLst/>
                <a:latin typeface="quote-cjk-patch"/>
              </a:rPr>
              <a:t>Caracteristici:</a:t>
            </a:r>
            <a:endParaRPr lang="ro-RO" sz="2000" b="0" i="0" dirty="0">
              <a:solidFill>
                <a:srgbClr val="0070C0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latin typeface="quote-cjk-patch"/>
              </a:rPr>
              <a:t> f</a:t>
            </a:r>
            <a:r>
              <a:rPr lang="ro-RO" b="0" i="0" dirty="0" err="1">
                <a:effectLst/>
                <a:latin typeface="quote-cjk-patch"/>
              </a:rPr>
              <a:t>ormă</a:t>
            </a:r>
            <a:r>
              <a:rPr lang="ro-RO" b="0" i="0" dirty="0">
                <a:effectLst/>
                <a:latin typeface="quote-cjk-patch"/>
              </a:rPr>
              <a:t> liniară în variabile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quote-cjk-patch"/>
              </a:rPr>
              <a:t> </a:t>
            </a:r>
            <a:r>
              <a:rPr lang="en-US" dirty="0">
                <a:latin typeface="quote-cjk-patch"/>
              </a:rPr>
              <a:t>p</a:t>
            </a:r>
            <a:r>
              <a:rPr lang="ro-RO" b="0" i="0" dirty="0" err="1">
                <a:effectLst/>
                <a:latin typeface="quote-cjk-patch"/>
              </a:rPr>
              <a:t>arametri</a:t>
            </a:r>
            <a:r>
              <a:rPr lang="ro-RO" b="0" i="0" dirty="0">
                <a:effectLst/>
                <a:latin typeface="quote-cjk-patch"/>
              </a:rPr>
              <a:t>: </a:t>
            </a:r>
            <a:r>
              <a:rPr lang="ro-RO" b="0" i="0" dirty="0">
                <a:effectLst/>
                <a:latin typeface="KaTeX_Main"/>
              </a:rPr>
              <a:t>a</a:t>
            </a:r>
            <a:r>
              <a:rPr lang="en-US" dirty="0" err="1">
                <a:latin typeface="KaTeX_Main"/>
              </a:rPr>
              <a:t>i</a:t>
            </a:r>
            <a:r>
              <a:rPr lang="ro-RO" b="0" i="0" dirty="0">
                <a:effectLst/>
                <a:latin typeface="KaTeX_Main"/>
              </a:rPr>
              <a:t>​</a:t>
            </a:r>
            <a:r>
              <a:rPr lang="ro-RO" b="0" i="0" dirty="0">
                <a:effectLst/>
                <a:latin typeface="quote-cjk-patch"/>
              </a:rPr>
              <a:t>, </a:t>
            </a:r>
            <a:r>
              <a:rPr lang="ro-RO" b="0" i="0" dirty="0" err="1">
                <a:effectLst/>
                <a:latin typeface="KaTeX_Main"/>
              </a:rPr>
              <a:t>bj</a:t>
            </a:r>
            <a:r>
              <a:rPr lang="ro-RO" b="0" i="0" dirty="0">
                <a:effectLst/>
                <a:latin typeface="KaTeX_Main"/>
              </a:rPr>
              <a:t>​</a:t>
            </a:r>
            <a:endParaRPr lang="ro-RO" b="0" i="0" dirty="0"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latin typeface="quote-cjk-patch"/>
              </a:rPr>
              <a:t> n</a:t>
            </a:r>
            <a:r>
              <a:rPr lang="ro-RO" b="0" i="0" dirty="0">
                <a:effectLst/>
                <a:latin typeface="quote-cjk-patch"/>
              </a:rPr>
              <a:t>umăr parametri: </a:t>
            </a:r>
            <a:r>
              <a:rPr lang="ro-RO" b="0" i="0" dirty="0" err="1">
                <a:effectLst/>
                <a:latin typeface="KaTeX_Main"/>
              </a:rPr>
              <a:t>na+nb</a:t>
            </a:r>
            <a:endParaRPr lang="en-US" b="0" i="0" dirty="0">
              <a:effectLst/>
              <a:latin typeface="KaTeX_Main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latin typeface="KaTeX_Main"/>
              </a:rPr>
              <a:t> </a:t>
            </a:r>
            <a:r>
              <a:rPr lang="en-US" dirty="0" err="1">
                <a:latin typeface="KaTeX_Main"/>
              </a:rPr>
              <a:t>dependenta</a:t>
            </a:r>
            <a:r>
              <a:rPr lang="en-US" dirty="0">
                <a:latin typeface="KaTeX_Main"/>
              </a:rPr>
              <a:t> </a:t>
            </a:r>
            <a:r>
              <a:rPr lang="en-US" dirty="0" err="1">
                <a:latin typeface="KaTeX_Main"/>
              </a:rPr>
              <a:t>liniara</a:t>
            </a:r>
            <a:r>
              <a:rPr lang="en-US" dirty="0">
                <a:latin typeface="KaTeX_Main"/>
              </a:rPr>
              <a:t> de </a:t>
            </a:r>
            <a:r>
              <a:rPr lang="en-US" dirty="0" err="1">
                <a:latin typeface="KaTeX_Main"/>
              </a:rPr>
              <a:t>iesirile</a:t>
            </a:r>
            <a:r>
              <a:rPr lang="en-US" dirty="0">
                <a:latin typeface="KaTeX_Main"/>
              </a:rPr>
              <a:t> </a:t>
            </a:r>
            <a:r>
              <a:rPr lang="en-US" dirty="0" err="1">
                <a:latin typeface="KaTeX_Main"/>
              </a:rPr>
              <a:t>si</a:t>
            </a:r>
            <a:r>
              <a:rPr lang="en-US" dirty="0">
                <a:latin typeface="KaTeX_Main"/>
              </a:rPr>
              <a:t> </a:t>
            </a:r>
            <a:r>
              <a:rPr lang="en-US" dirty="0" err="1">
                <a:latin typeface="KaTeX_Main"/>
              </a:rPr>
              <a:t>intrarile</a:t>
            </a:r>
            <a:r>
              <a:rPr lang="en-US" dirty="0">
                <a:latin typeface="KaTeX_Main"/>
              </a:rPr>
              <a:t> </a:t>
            </a:r>
            <a:r>
              <a:rPr lang="en-US" dirty="0" err="1">
                <a:latin typeface="KaTeX_Main"/>
              </a:rPr>
              <a:t>precedenre</a:t>
            </a:r>
            <a:r>
              <a:rPr lang="en-US" dirty="0">
                <a:latin typeface="KaTeX_Main"/>
              </a:rPr>
              <a:t>: y(k-1), … , y(k-</a:t>
            </a:r>
            <a:r>
              <a:rPr lang="en-US" dirty="0" err="1">
                <a:latin typeface="KaTeX_Main"/>
              </a:rPr>
              <a:t>na</a:t>
            </a:r>
            <a:r>
              <a:rPr lang="en-US" dirty="0">
                <a:latin typeface="KaTeX_Main"/>
              </a:rPr>
              <a:t>), u(k-1), …, u(k – </a:t>
            </a:r>
            <a:r>
              <a:rPr lang="en-US" dirty="0" err="1">
                <a:latin typeface="KaTeX_Main"/>
              </a:rPr>
              <a:t>nb</a:t>
            </a:r>
            <a:r>
              <a:rPr lang="en-US" dirty="0">
                <a:latin typeface="KaTeX_Main"/>
              </a:rPr>
              <a:t>);</a:t>
            </a:r>
            <a:endParaRPr lang="ro-RO" b="0" i="0" dirty="0">
              <a:effectLst/>
              <a:latin typeface="quote-cjk-patch"/>
            </a:endParaRPr>
          </a:p>
          <a:p>
            <a:endParaRPr lang="ro-RO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B53825-A9F7-9EF0-0E3A-9F73C3609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9681" y="1143132"/>
            <a:ext cx="6858957" cy="8287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81AAD0F-0609-93E9-1627-45D082225A77}"/>
              </a:ext>
            </a:extLst>
          </p:cNvPr>
          <p:cNvSpPr txBox="1"/>
          <p:nvPr/>
        </p:nvSpPr>
        <p:spPr>
          <a:xfrm>
            <a:off x="1678525" y="3144959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0070C0"/>
                </a:solidFill>
              </a:rPr>
              <a:t>NARX</a:t>
            </a:r>
            <a:endParaRPr lang="ro-RO" sz="3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538AAF-CF4F-1A27-1CB0-4D858D9E4E3D}"/>
              </a:ext>
            </a:extLst>
          </p:cNvPr>
          <p:cNvSpPr txBox="1"/>
          <p:nvPr/>
        </p:nvSpPr>
        <p:spPr>
          <a:xfrm>
            <a:off x="1849374" y="3759233"/>
            <a:ext cx="60944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o-RO" b="1" i="0">
                <a:solidFill>
                  <a:srgbClr val="0070C0"/>
                </a:solidFill>
                <a:effectLst/>
                <a:latin typeface="quote-cjk-patch"/>
              </a:rPr>
              <a:t>Caracteristici:</a:t>
            </a:r>
            <a:endParaRPr lang="ro-RO" b="0" i="0">
              <a:solidFill>
                <a:srgbClr val="0070C0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>
                <a:latin typeface="quote-cjk-patch"/>
              </a:rPr>
              <a:t>f</a:t>
            </a:r>
            <a:r>
              <a:rPr lang="ro-RO" b="0" i="0">
                <a:effectLst/>
                <a:latin typeface="quote-cjk-patch"/>
              </a:rPr>
              <a:t>ormă polinomială de grad </a:t>
            </a:r>
            <a:r>
              <a:rPr lang="ro-RO" b="0" i="0">
                <a:effectLst/>
                <a:latin typeface="KaTeX_Main"/>
              </a:rPr>
              <a:t>m</a:t>
            </a:r>
            <a:endParaRPr lang="ro-RO" b="0" i="0"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>
                <a:latin typeface="quote-cjk-patch"/>
              </a:rPr>
              <a:t>i</a:t>
            </a:r>
            <a:r>
              <a:rPr lang="ro-RO" b="0" i="0">
                <a:effectLst/>
                <a:latin typeface="quote-cjk-patch"/>
              </a:rPr>
              <a:t>nclude termeni neliniari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>
                <a:latin typeface="quote-cjk-patch"/>
              </a:rPr>
              <a:t> n</a:t>
            </a:r>
            <a:r>
              <a:rPr lang="ro-RO" b="0" i="0">
                <a:effectLst/>
                <a:latin typeface="quote-cjk-patch"/>
              </a:rPr>
              <a:t>umăr</a:t>
            </a:r>
            <a:r>
              <a:rPr lang="en-US" b="0" i="0">
                <a:effectLst/>
                <a:latin typeface="quote-cjk-patch"/>
              </a:rPr>
              <a:t> mult mai mare de parametri</a:t>
            </a:r>
            <a:endParaRPr lang="ro-RO" b="0" i="0" dirty="0">
              <a:effectLst/>
              <a:latin typeface="quote-cjk-patch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9FDD03-45DD-D0E9-2F7A-CDD8892959FC}"/>
              </a:ext>
            </a:extLst>
          </p:cNvPr>
          <p:cNvSpPr txBox="1"/>
          <p:nvPr/>
        </p:nvSpPr>
        <p:spPr>
          <a:xfrm>
            <a:off x="2544318" y="4959562"/>
            <a:ext cx="88125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 </a:t>
            </a:r>
            <a:r>
              <a:rPr lang="en-US" dirty="0" err="1"/>
              <a:t>exemplu</a:t>
            </a:r>
            <a:r>
              <a:rPr lang="en-US" dirty="0"/>
              <a:t> pt</a:t>
            </a:r>
            <a:r>
              <a:rPr lang="ro-RO" dirty="0"/>
              <a:t> na = </a:t>
            </a:r>
            <a:r>
              <a:rPr lang="ro-RO" dirty="0" err="1"/>
              <a:t>nb</a:t>
            </a:r>
            <a:r>
              <a:rPr lang="ro-RO" dirty="0"/>
              <a:t> = 1 si gradul m = 2: </a:t>
            </a:r>
            <a:endParaRPr lang="en-US" dirty="0"/>
          </a:p>
          <a:p>
            <a:r>
              <a:rPr lang="en-US" dirty="0"/>
              <a:t>	 </a:t>
            </a:r>
            <a:r>
              <a:rPr lang="ro-RO" dirty="0"/>
              <a:t>y(k) =</a:t>
            </a:r>
            <a:r>
              <a:rPr lang="ro-RO" dirty="0" err="1"/>
              <a:t>ay</a:t>
            </a:r>
            <a:r>
              <a:rPr lang="ro-RO" dirty="0"/>
              <a:t>(k −1)+</a:t>
            </a:r>
            <a:r>
              <a:rPr lang="ro-RO" dirty="0" err="1"/>
              <a:t>bu</a:t>
            </a:r>
            <a:r>
              <a:rPr lang="ro-RO" dirty="0"/>
              <a:t>(k −1)+</a:t>
            </a:r>
            <a:r>
              <a:rPr lang="ro-RO" dirty="0" err="1"/>
              <a:t>cy</a:t>
            </a:r>
            <a:r>
              <a:rPr lang="ro-RO" dirty="0"/>
              <a:t>(k −1)</a:t>
            </a:r>
            <a:r>
              <a:rPr lang="en-US" dirty="0"/>
              <a:t>^</a:t>
            </a:r>
            <a:r>
              <a:rPr lang="ro-RO" dirty="0"/>
              <a:t>2 +du(k −1)</a:t>
            </a:r>
            <a:r>
              <a:rPr lang="en-US" dirty="0"/>
              <a:t>^</a:t>
            </a:r>
            <a:r>
              <a:rPr lang="ro-RO" dirty="0"/>
              <a:t>2 +</a:t>
            </a:r>
            <a:r>
              <a:rPr lang="ro-RO" dirty="0" err="1"/>
              <a:t>wu</a:t>
            </a:r>
            <a:r>
              <a:rPr lang="ro-RO" dirty="0"/>
              <a:t>(k −1)y(k −1)+z +e(k)</a:t>
            </a:r>
          </a:p>
        </p:txBody>
      </p:sp>
    </p:spTree>
    <p:extLst>
      <p:ext uri="{BB962C8B-B14F-4D97-AF65-F5344CB8AC3E}">
        <p14:creationId xmlns:p14="http://schemas.microsoft.com/office/powerpoint/2010/main" val="3797540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AB1BF-7461-7566-B314-5D23272A0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523526"/>
            <a:ext cx="8911687" cy="1280890"/>
          </a:xfrm>
        </p:spPr>
        <p:txBody>
          <a:bodyPr/>
          <a:lstStyle/>
          <a:p>
            <a:r>
              <a:rPr lang="en-US" dirty="0" err="1">
                <a:solidFill>
                  <a:srgbClr val="0070C0"/>
                </a:solidFill>
              </a:rPr>
              <a:t>Descrierea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structurii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aproximatorului</a:t>
            </a:r>
            <a:endParaRPr lang="ro-RO" dirty="0">
              <a:solidFill>
                <a:srgbClr val="0070C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A09F4E-8603-0050-9689-D19BF3765648}"/>
              </a:ext>
            </a:extLst>
          </p:cNvPr>
          <p:cNvSpPr txBox="1"/>
          <p:nvPr/>
        </p:nvSpPr>
        <p:spPr>
          <a:xfrm>
            <a:off x="1191006" y="1481250"/>
            <a:ext cx="79895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dirty="0"/>
              <a:t>y(k) =g</a:t>
            </a:r>
            <a:r>
              <a:rPr lang="en-US" dirty="0"/>
              <a:t>(</a:t>
            </a:r>
            <a:r>
              <a:rPr lang="ro-RO" dirty="0"/>
              <a:t>y(k −1),y(k −2),...,y(k −na), u(k −1),u(k −2),...,u(k −</a:t>
            </a:r>
            <a:r>
              <a:rPr lang="ro-RO" dirty="0" err="1"/>
              <a:t>nb</a:t>
            </a:r>
            <a:r>
              <a:rPr lang="ro-RO" dirty="0"/>
              <a:t>);θ</a:t>
            </a:r>
            <a:r>
              <a:rPr lang="en-US" dirty="0"/>
              <a:t>)</a:t>
            </a:r>
            <a:r>
              <a:rPr lang="ro-RO" dirty="0"/>
              <a:t> +e(k)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4ED8C1-AEED-A0A1-4DD7-19C21E651963}"/>
              </a:ext>
            </a:extLst>
          </p:cNvPr>
          <p:cNvSpPr txBox="1"/>
          <p:nvPr/>
        </p:nvSpPr>
        <p:spPr>
          <a:xfrm>
            <a:off x="463296" y="1951672"/>
            <a:ext cx="117287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dirty="0" err="1"/>
              <a:t>Functia</a:t>
            </a:r>
            <a:r>
              <a:rPr lang="ro-RO" dirty="0"/>
              <a:t> g este parametrizata de θ ∈ R</a:t>
            </a:r>
            <a:r>
              <a:rPr lang="en-US" dirty="0"/>
              <a:t>^</a:t>
            </a:r>
            <a:r>
              <a:rPr lang="ro-RO" dirty="0"/>
              <a:t>n, </a:t>
            </a:r>
            <a:r>
              <a:rPr lang="en-US" dirty="0" err="1"/>
              <a:t>iar</a:t>
            </a:r>
            <a:r>
              <a:rPr lang="ro-RO" dirty="0"/>
              <a:t> </a:t>
            </a:r>
            <a:r>
              <a:rPr lang="ro-RO" dirty="0" err="1"/>
              <a:t>acesti</a:t>
            </a:r>
            <a:r>
              <a:rPr lang="ro-RO" dirty="0"/>
              <a:t> parametri pot fi </a:t>
            </a:r>
            <a:r>
              <a:rPr lang="ro-RO" dirty="0" err="1"/>
              <a:t>alesi</a:t>
            </a:r>
            <a:r>
              <a:rPr lang="ro-RO" dirty="0"/>
              <a:t> pentru a recupera datele de identificare, </a:t>
            </a:r>
            <a:r>
              <a:rPr lang="en-US" dirty="0" err="1"/>
              <a:t>obtinand</a:t>
            </a:r>
            <a:r>
              <a:rPr lang="ro-RO" dirty="0"/>
              <a:t> astfel un sistem dinamic neliniar.</a:t>
            </a:r>
            <a:endParaRPr lang="en-US" dirty="0"/>
          </a:p>
          <a:p>
            <a:r>
              <a:rPr lang="en-US" dirty="0"/>
              <a:t>	~</a:t>
            </a:r>
            <a:r>
              <a:rPr lang="ro-RO" dirty="0"/>
              <a:t> g este un polinom de gradul m: </a:t>
            </a:r>
            <a:endParaRPr lang="en-US" dirty="0"/>
          </a:p>
          <a:p>
            <a:r>
              <a:rPr lang="en-US" dirty="0"/>
              <a:t>		</a:t>
            </a:r>
            <a:r>
              <a:rPr lang="ro-RO" dirty="0"/>
              <a:t>y(k) = p(y(k −1),...,y(k −na),u(k −1),...,u(k −</a:t>
            </a:r>
            <a:r>
              <a:rPr lang="ro-RO" dirty="0" err="1"/>
              <a:t>nb</a:t>
            </a:r>
            <a:r>
              <a:rPr lang="ro-RO" dirty="0"/>
              <a:t>))+e(k)</a:t>
            </a:r>
            <a:r>
              <a:rPr lang="en-US" dirty="0"/>
              <a:t>, </a:t>
            </a:r>
            <a:r>
              <a:rPr lang="ro-RO" dirty="0"/>
              <a:t> unde d(k) = [y(k −1),...,y(k −na),u(k −1),...,</a:t>
            </a:r>
            <a:r>
              <a:rPr lang="en-US" dirty="0"/>
              <a:t> </a:t>
            </a:r>
            <a:r>
              <a:rPr lang="ro-RO" dirty="0"/>
              <a:t>u(k −</a:t>
            </a:r>
            <a:r>
              <a:rPr lang="ro-RO" dirty="0" err="1"/>
              <a:t>nb</a:t>
            </a:r>
            <a:r>
              <a:rPr lang="ro-RO" dirty="0"/>
              <a:t>)]</a:t>
            </a:r>
            <a:r>
              <a:rPr lang="en-US" dirty="0"/>
              <a:t> </a:t>
            </a:r>
            <a:r>
              <a:rPr lang="en-US" dirty="0" err="1"/>
              <a:t>transpus</a:t>
            </a:r>
            <a:r>
              <a:rPr lang="ro-RO" dirty="0"/>
              <a:t> este vectorul de semnale precedente.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9B9F8B-7ED8-5A06-15E9-6AF7ED6435A3}"/>
              </a:ext>
            </a:extLst>
          </p:cNvPr>
          <p:cNvSpPr txBox="1"/>
          <p:nvPr/>
        </p:nvSpPr>
        <p:spPr>
          <a:xfrm>
            <a:off x="463296" y="3576256"/>
            <a:ext cx="1108252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Exemplu</a:t>
            </a:r>
            <a:r>
              <a:rPr lang="en-US" dirty="0"/>
              <a:t>: </a:t>
            </a:r>
            <a:r>
              <a:rPr lang="en-US" dirty="0" err="1"/>
              <a:t>na</a:t>
            </a:r>
            <a:r>
              <a:rPr lang="en-US" dirty="0"/>
              <a:t> = </a:t>
            </a:r>
            <a:r>
              <a:rPr lang="en-US" dirty="0" err="1"/>
              <a:t>nb</a:t>
            </a:r>
            <a:r>
              <a:rPr lang="en-US" dirty="0"/>
              <a:t> = 1</a:t>
            </a:r>
          </a:p>
          <a:p>
            <a:r>
              <a:rPr lang="en-US" dirty="0"/>
              <a:t> m = 1 =&gt; y(k) = c + ay(k-1) +</a:t>
            </a:r>
            <a:r>
              <a:rPr lang="en-US" dirty="0" err="1"/>
              <a:t>bu</a:t>
            </a:r>
            <a:r>
              <a:rPr lang="en-US" dirty="0"/>
              <a:t>(k-1) +e(k)</a:t>
            </a:r>
          </a:p>
          <a:p>
            <a:r>
              <a:rPr lang="en-US" dirty="0"/>
              <a:t> m = 2 =&gt; y(k) = </a:t>
            </a:r>
            <a:r>
              <a:rPr lang="ro-RO" dirty="0" err="1"/>
              <a:t>ay</a:t>
            </a:r>
            <a:r>
              <a:rPr lang="ro-RO" dirty="0"/>
              <a:t>(k −1)+</a:t>
            </a:r>
            <a:r>
              <a:rPr lang="ro-RO" dirty="0" err="1"/>
              <a:t>bu</a:t>
            </a:r>
            <a:r>
              <a:rPr lang="ro-RO" dirty="0"/>
              <a:t>(k −1)+</a:t>
            </a:r>
            <a:r>
              <a:rPr lang="ro-RO" dirty="0" err="1"/>
              <a:t>cy</a:t>
            </a:r>
            <a:r>
              <a:rPr lang="ro-RO" dirty="0"/>
              <a:t>(k −1)</a:t>
            </a:r>
            <a:r>
              <a:rPr lang="en-US" dirty="0"/>
              <a:t>^</a:t>
            </a:r>
            <a:r>
              <a:rPr lang="ro-RO" dirty="0"/>
              <a:t>2 +du(k −1)</a:t>
            </a:r>
            <a:r>
              <a:rPr lang="en-US" dirty="0"/>
              <a:t>^</a:t>
            </a:r>
            <a:r>
              <a:rPr lang="ro-RO" dirty="0"/>
              <a:t>2 +</a:t>
            </a:r>
            <a:r>
              <a:rPr lang="ro-RO" dirty="0" err="1"/>
              <a:t>wu</a:t>
            </a:r>
            <a:r>
              <a:rPr lang="ro-RO" dirty="0"/>
              <a:t>(k −1)y(k −1)+</a:t>
            </a:r>
            <a:r>
              <a:rPr lang="en-US" dirty="0"/>
              <a:t> </a:t>
            </a:r>
            <a:r>
              <a:rPr lang="ro-RO" dirty="0"/>
              <a:t>z +e(k)</a:t>
            </a:r>
            <a:endParaRPr lang="en-US" dirty="0"/>
          </a:p>
          <a:p>
            <a:r>
              <a:rPr lang="en-US" dirty="0"/>
              <a:t> m = 3 =&gt; y(k) = </a:t>
            </a:r>
            <a:r>
              <a:rPr lang="ro-RO" dirty="0" err="1"/>
              <a:t>ay</a:t>
            </a:r>
            <a:r>
              <a:rPr lang="ro-RO" dirty="0"/>
              <a:t>(k −1)+</a:t>
            </a:r>
            <a:r>
              <a:rPr lang="ro-RO" dirty="0" err="1"/>
              <a:t>bu</a:t>
            </a:r>
            <a:r>
              <a:rPr lang="ro-RO" dirty="0"/>
              <a:t>(k −1)+</a:t>
            </a:r>
            <a:r>
              <a:rPr lang="ro-RO" dirty="0" err="1"/>
              <a:t>cy</a:t>
            </a:r>
            <a:r>
              <a:rPr lang="ro-RO" dirty="0"/>
              <a:t>(k −1)</a:t>
            </a:r>
            <a:r>
              <a:rPr lang="en-US" dirty="0"/>
              <a:t>^</a:t>
            </a:r>
            <a:r>
              <a:rPr lang="ro-RO" dirty="0"/>
              <a:t>2 +du(k −1)</a:t>
            </a:r>
            <a:r>
              <a:rPr lang="en-US" dirty="0"/>
              <a:t>^</a:t>
            </a:r>
            <a:r>
              <a:rPr lang="ro-RO" dirty="0"/>
              <a:t>2 +</a:t>
            </a:r>
            <a:r>
              <a:rPr lang="ro-RO" dirty="0" err="1"/>
              <a:t>wu</a:t>
            </a:r>
            <a:r>
              <a:rPr lang="ro-RO" dirty="0"/>
              <a:t>(k −1)y(k −1)+</a:t>
            </a:r>
            <a:r>
              <a:rPr lang="en-US" dirty="0"/>
              <a:t> </a:t>
            </a:r>
            <a:r>
              <a:rPr lang="en-US" dirty="0" err="1"/>
              <a:t>dy</a:t>
            </a:r>
            <a:r>
              <a:rPr lang="en-US" dirty="0"/>
              <a:t>(k-1)^3 + fu(k-1)^3 				+ g(u(k-1)^2 *y(k-1))+ h(u(k-1)*y(k-1)^2) + e(k)</a:t>
            </a:r>
          </a:p>
          <a:p>
            <a:endParaRPr lang="en-US" dirty="0"/>
          </a:p>
          <a:p>
            <a:r>
              <a:rPr lang="en-US" dirty="0"/>
              <a:t>=&gt; Pe </a:t>
            </a:r>
            <a:r>
              <a:rPr lang="en-US" dirty="0" err="1"/>
              <a:t>masura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creste</a:t>
            </a:r>
            <a:r>
              <a:rPr lang="en-US" dirty="0"/>
              <a:t> m </a:t>
            </a:r>
            <a:r>
              <a:rPr lang="en-US" dirty="0" err="1"/>
              <a:t>rezulta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multi </a:t>
            </a:r>
            <a:r>
              <a:rPr lang="en-US" dirty="0" err="1"/>
              <a:t>termeni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47032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6C7B9-56A4-F314-F14C-F9D57C381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453422"/>
            <a:ext cx="8911687" cy="1280890"/>
          </a:xfrm>
        </p:spPr>
        <p:txBody>
          <a:bodyPr/>
          <a:lstStyle/>
          <a:p>
            <a:r>
              <a:rPr lang="en-US" dirty="0" err="1">
                <a:solidFill>
                  <a:srgbClr val="0070C0"/>
                </a:solidFill>
              </a:rPr>
              <a:t>Metoda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regresiei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liniare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pentru</a:t>
            </a:r>
            <a:r>
              <a:rPr lang="en-US" dirty="0">
                <a:solidFill>
                  <a:srgbClr val="0070C0"/>
                </a:solidFill>
              </a:rPr>
              <a:t> NARX 	</a:t>
            </a:r>
            <a:r>
              <a:rPr lang="en-US" sz="2400" dirty="0">
                <a:solidFill>
                  <a:srgbClr val="0070C0"/>
                </a:solidFill>
              </a:rPr>
              <a:t>(</a:t>
            </a:r>
            <a:r>
              <a:rPr lang="en-US" sz="2400" dirty="0" err="1">
                <a:solidFill>
                  <a:srgbClr val="0070C0"/>
                </a:solidFill>
              </a:rPr>
              <a:t>determinarea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parametrilor</a:t>
            </a:r>
            <a:r>
              <a:rPr lang="en-US" sz="2400" dirty="0">
                <a:solidFill>
                  <a:srgbClr val="0070C0"/>
                </a:solidFill>
              </a:rPr>
              <a:t>)</a:t>
            </a:r>
            <a:endParaRPr lang="ro-RO" sz="2400" dirty="0">
              <a:solidFill>
                <a:srgbClr val="0070C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74A8B7-2041-B7DD-9067-AEA72543AC9F}"/>
              </a:ext>
            </a:extLst>
          </p:cNvPr>
          <p:cNvSpPr txBox="1"/>
          <p:nvPr/>
        </p:nvSpPr>
        <p:spPr>
          <a:xfrm>
            <a:off x="926592" y="1734312"/>
            <a:ext cx="87416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</a:t>
            </a:r>
            <a:r>
              <a:rPr lang="ro-RO" dirty="0" err="1"/>
              <a:t>egresia</a:t>
            </a:r>
            <a:r>
              <a:rPr lang="ro-RO" dirty="0"/>
              <a:t> liniara </a:t>
            </a:r>
            <a:r>
              <a:rPr lang="ro-RO" dirty="0" err="1"/>
              <a:t>functioneaza</a:t>
            </a:r>
            <a:r>
              <a:rPr lang="ro-RO" dirty="0"/>
              <a:t> ca de obicei</a:t>
            </a:r>
            <a:r>
              <a:rPr lang="en-US" dirty="0"/>
              <a:t>;</a:t>
            </a:r>
          </a:p>
          <a:p>
            <a:r>
              <a:rPr lang="ro-RO" dirty="0"/>
              <a:t>gas</a:t>
            </a:r>
            <a:r>
              <a:rPr lang="en-US" dirty="0" err="1"/>
              <a:t>este</a:t>
            </a:r>
            <a:r>
              <a:rPr lang="ro-RO" dirty="0"/>
              <a:t> parametrii care </a:t>
            </a:r>
            <a:r>
              <a:rPr lang="ro-RO" dirty="0" err="1"/>
              <a:t>minimizeaza</a:t>
            </a:r>
            <a:r>
              <a:rPr lang="ro-RO" dirty="0"/>
              <a:t> valoarea MSE-ului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35B4C4-F234-A478-30D0-245D84E98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9282" y="1734312"/>
            <a:ext cx="2810267" cy="5906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4C3D86-2301-4EF0-8218-9829AA9212E4}"/>
              </a:ext>
            </a:extLst>
          </p:cNvPr>
          <p:cNvSpPr txBox="1"/>
          <p:nvPr/>
        </p:nvSpPr>
        <p:spPr>
          <a:xfrm>
            <a:off x="1182624" y="264587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dirty="0"/>
              <a:t>ϕ(k)</a:t>
            </a:r>
            <a:r>
              <a:rPr lang="en-US" dirty="0"/>
              <a:t> – </a:t>
            </a:r>
            <a:r>
              <a:rPr lang="en-US" dirty="0" err="1"/>
              <a:t>iesirile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intrarile</a:t>
            </a:r>
            <a:r>
              <a:rPr lang="en-US" dirty="0"/>
              <a:t> din y </a:t>
            </a:r>
          </a:p>
          <a:p>
            <a:r>
              <a:rPr lang="en-US" dirty="0"/>
              <a:t> </a:t>
            </a:r>
            <a:r>
              <a:rPr lang="el-GR" dirty="0"/>
              <a:t>θ</a:t>
            </a:r>
            <a:r>
              <a:rPr lang="en-US" dirty="0"/>
              <a:t> – </a:t>
            </a:r>
            <a:r>
              <a:rPr lang="en-US" dirty="0" err="1"/>
              <a:t>coeficientii</a:t>
            </a:r>
            <a:r>
              <a:rPr lang="en-US" dirty="0"/>
              <a:t> </a:t>
            </a:r>
            <a:r>
              <a:rPr lang="en-US" dirty="0" err="1"/>
              <a:t>polinoamelor</a:t>
            </a:r>
            <a:endParaRPr lang="ro-RO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82AA96-A1A5-33CF-B1B4-0B04C8D89A46}"/>
              </a:ext>
            </a:extLst>
          </p:cNvPr>
          <p:cNvSpPr txBox="1"/>
          <p:nvPr/>
        </p:nvSpPr>
        <p:spPr>
          <a:xfrm>
            <a:off x="780464" y="3490486"/>
            <a:ext cx="1101529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crea</a:t>
            </a:r>
            <a:r>
              <a:rPr lang="en-US" dirty="0"/>
              <a:t> </a:t>
            </a:r>
            <a:r>
              <a:rPr lang="ro-RO" dirty="0"/>
              <a:t>θ</a:t>
            </a:r>
            <a:r>
              <a:rPr lang="en-US" dirty="0"/>
              <a:t>, se </a:t>
            </a:r>
            <a:r>
              <a:rPr lang="en-US" dirty="0" err="1"/>
              <a:t>foloseste</a:t>
            </a:r>
            <a:r>
              <a:rPr lang="en-US" dirty="0"/>
              <a:t> </a:t>
            </a:r>
            <a:r>
              <a:rPr lang="en-US" dirty="0" err="1"/>
              <a:t>regresia</a:t>
            </a:r>
            <a:r>
              <a:rPr lang="en-US" dirty="0"/>
              <a:t> </a:t>
            </a:r>
            <a:r>
              <a:rPr lang="en-US" dirty="0" err="1"/>
              <a:t>liniara</a:t>
            </a:r>
            <a:r>
              <a:rPr lang="en-US" dirty="0"/>
              <a:t>.</a:t>
            </a:r>
          </a:p>
          <a:p>
            <a:r>
              <a:rPr lang="en-US" dirty="0"/>
              <a:t>Cu </a:t>
            </a:r>
            <a:r>
              <a:rPr lang="en-US" dirty="0" err="1"/>
              <a:t>ajutorul</a:t>
            </a:r>
            <a:r>
              <a:rPr lang="en-US" dirty="0"/>
              <a:t> </a:t>
            </a:r>
            <a:r>
              <a:rPr lang="en-US" dirty="0" err="1"/>
              <a:t>regresiei</a:t>
            </a:r>
            <a:r>
              <a:rPr lang="en-US" dirty="0"/>
              <a:t> </a:t>
            </a:r>
            <a:r>
              <a:rPr lang="en-US" dirty="0" err="1"/>
              <a:t>liniare</a:t>
            </a:r>
            <a:r>
              <a:rPr lang="en-US" dirty="0"/>
              <a:t> care </a:t>
            </a:r>
            <a:r>
              <a:rPr lang="en-US" dirty="0" err="1"/>
              <a:t>minimizeaza</a:t>
            </a:r>
            <a:r>
              <a:rPr lang="en-US" dirty="0"/>
              <a:t> </a:t>
            </a:r>
            <a:r>
              <a:rPr lang="en-US" dirty="0" err="1"/>
              <a:t>eroarea</a:t>
            </a:r>
            <a:r>
              <a:rPr lang="en-US" dirty="0"/>
              <a:t> </a:t>
            </a:r>
            <a:r>
              <a:rPr lang="en-US" dirty="0" err="1"/>
              <a:t>medie</a:t>
            </a:r>
            <a:r>
              <a:rPr lang="en-US" dirty="0"/>
              <a:t> </a:t>
            </a:r>
            <a:r>
              <a:rPr lang="en-US" dirty="0" err="1"/>
              <a:t>patratica</a:t>
            </a:r>
            <a:r>
              <a:rPr lang="en-US" dirty="0"/>
              <a:t> V(</a:t>
            </a:r>
            <a:r>
              <a:rPr lang="el-GR" dirty="0"/>
              <a:t>θ</a:t>
            </a:r>
            <a:r>
              <a:rPr lang="en-US" dirty="0"/>
              <a:t>) se </a:t>
            </a:r>
            <a:r>
              <a:rPr lang="en-US" dirty="0" err="1"/>
              <a:t>obtine</a:t>
            </a:r>
            <a:r>
              <a:rPr lang="en-US" dirty="0"/>
              <a:t>:</a:t>
            </a:r>
          </a:p>
          <a:p>
            <a:endParaRPr lang="ro-RO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27696A2-D335-BDB0-F702-2FF263FF8F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381" y="4257690"/>
            <a:ext cx="1981477" cy="40010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5E8E6D4-757E-E9C9-55C1-51816D1743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5891" y="4297094"/>
            <a:ext cx="2210108" cy="36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760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18C21-97F1-D3CF-169B-C96FF1772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502190"/>
            <a:ext cx="8911687" cy="1280890"/>
          </a:xfrm>
        </p:spPr>
        <p:txBody>
          <a:bodyPr/>
          <a:lstStyle/>
          <a:p>
            <a:r>
              <a:rPr lang="en-US" dirty="0" err="1">
                <a:solidFill>
                  <a:srgbClr val="0070C0"/>
                </a:solidFill>
              </a:rPr>
              <a:t>Caracteristici</a:t>
            </a:r>
            <a:r>
              <a:rPr lang="en-US" dirty="0">
                <a:solidFill>
                  <a:srgbClr val="0070C0"/>
                </a:solidFill>
              </a:rPr>
              <a:t> generale</a:t>
            </a:r>
            <a:endParaRPr lang="ro-RO" dirty="0">
              <a:solidFill>
                <a:srgbClr val="0070C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DF08CC-E245-63E3-7C20-D214EEC7B1B4}"/>
              </a:ext>
            </a:extLst>
          </p:cNvPr>
          <p:cNvSpPr txBox="1"/>
          <p:nvPr/>
        </p:nvSpPr>
        <p:spPr>
          <a:xfrm>
            <a:off x="793171" y="1973908"/>
            <a:ext cx="955430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dirty="0">
                <a:latin typeface="+mj-lt"/>
              </a:rPr>
              <a:t>~ s</a:t>
            </a:r>
            <a:r>
              <a:rPr lang="ro-RO" sz="2000" dirty="0" err="1">
                <a:effectLst/>
                <a:latin typeface="+mj-lt"/>
              </a:rPr>
              <a:t>eparația</a:t>
            </a:r>
            <a:r>
              <a:rPr lang="ro-RO" sz="2000" dirty="0">
                <a:effectLst/>
                <a:latin typeface="+mj-lt"/>
              </a:rPr>
              <a:t> </a:t>
            </a:r>
            <a:r>
              <a:rPr lang="en-US" sz="2000" dirty="0">
                <a:latin typeface="+mj-lt"/>
              </a:rPr>
              <a:t>c</a:t>
            </a:r>
            <a:r>
              <a:rPr lang="ro-RO" sz="2000" dirty="0" err="1">
                <a:effectLst/>
                <a:latin typeface="+mj-lt"/>
              </a:rPr>
              <a:t>lară</a:t>
            </a:r>
            <a:r>
              <a:rPr lang="en-US" sz="2000" dirty="0">
                <a:latin typeface="+mj-lt"/>
              </a:rPr>
              <a:t>: am </a:t>
            </a:r>
            <a:r>
              <a:rPr lang="en-US" sz="2000" dirty="0" err="1">
                <a:latin typeface="+mj-lt"/>
              </a:rPr>
              <a:t>impartit</a:t>
            </a:r>
            <a:r>
              <a:rPr lang="en-US" sz="2000" dirty="0">
                <a:latin typeface="+mj-lt"/>
              </a:rPr>
              <a:t> in </a:t>
            </a:r>
            <a:r>
              <a:rPr lang="en-US" sz="2000" dirty="0" err="1">
                <a:latin typeface="+mj-lt"/>
              </a:rPr>
              <a:t>functii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pentru</a:t>
            </a:r>
            <a:r>
              <a:rPr lang="en-US" sz="2000" dirty="0">
                <a:latin typeface="+mj-lt"/>
              </a:rPr>
              <a:t> ca </a:t>
            </a:r>
            <a:r>
              <a:rPr lang="en-US" sz="2000" dirty="0" err="1">
                <a:latin typeface="+mj-lt"/>
              </a:rPr>
              <a:t>codul</a:t>
            </a:r>
            <a:r>
              <a:rPr lang="en-US" sz="2000" dirty="0">
                <a:latin typeface="+mj-lt"/>
              </a:rPr>
              <a:t> sa fie </a:t>
            </a:r>
            <a:r>
              <a:rPr lang="en-US" sz="2000" dirty="0" err="1">
                <a:latin typeface="+mj-lt"/>
              </a:rPr>
              <a:t>mai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usor</a:t>
            </a:r>
            <a:r>
              <a:rPr lang="en-US" sz="2000" dirty="0">
                <a:latin typeface="+mj-lt"/>
              </a:rPr>
              <a:t> de </a:t>
            </a:r>
            <a:r>
              <a:rPr lang="en-US" sz="2000" dirty="0" err="1">
                <a:latin typeface="+mj-lt"/>
              </a:rPr>
              <a:t>inteles</a:t>
            </a:r>
            <a:endParaRPr lang="en-US" sz="2000" dirty="0">
              <a:latin typeface="+mj-lt"/>
            </a:endParaRPr>
          </a:p>
          <a:p>
            <a:pPr algn="l"/>
            <a:r>
              <a:rPr lang="en-US" sz="2000" dirty="0">
                <a:effectLst/>
                <a:latin typeface="+mj-lt"/>
              </a:rPr>
              <a:t>~ </a:t>
            </a:r>
            <a:r>
              <a:rPr lang="en-US" sz="2000" dirty="0" err="1">
                <a:effectLst/>
                <a:latin typeface="+mj-lt"/>
              </a:rPr>
              <a:t>consistenta</a:t>
            </a:r>
            <a:r>
              <a:rPr lang="en-US" sz="2000" dirty="0">
                <a:effectLst/>
                <a:latin typeface="+mj-lt"/>
              </a:rPr>
              <a:t>: </a:t>
            </a:r>
            <a:r>
              <a:rPr lang="en-US" sz="2000" dirty="0" err="1">
                <a:effectLst/>
                <a:latin typeface="+mj-lt"/>
              </a:rPr>
              <a:t>acelasi</a:t>
            </a:r>
            <a:r>
              <a:rPr lang="en-US" sz="2000" dirty="0">
                <a:effectLst/>
                <a:latin typeface="+mj-lt"/>
              </a:rPr>
              <a:t> </a:t>
            </a:r>
            <a:r>
              <a:rPr lang="en-US" sz="2000" dirty="0" err="1">
                <a:effectLst/>
                <a:latin typeface="+mj-lt"/>
              </a:rPr>
              <a:t>algoritm</a:t>
            </a:r>
            <a:r>
              <a:rPr lang="en-US" sz="2000" dirty="0">
                <a:effectLst/>
                <a:latin typeface="+mj-lt"/>
              </a:rPr>
              <a:t>, </a:t>
            </a:r>
            <a:r>
              <a:rPr lang="en-US" sz="2000" dirty="0" err="1">
                <a:effectLst/>
                <a:latin typeface="+mj-lt"/>
              </a:rPr>
              <a:t>atat</a:t>
            </a:r>
            <a:r>
              <a:rPr lang="en-US" sz="2000" dirty="0">
                <a:effectLst/>
                <a:latin typeface="+mj-lt"/>
              </a:rPr>
              <a:t> in </a:t>
            </a:r>
            <a:r>
              <a:rPr lang="en-US" sz="2000" dirty="0" err="1">
                <a:effectLst/>
                <a:latin typeface="+mj-lt"/>
              </a:rPr>
              <a:t>predictie</a:t>
            </a:r>
            <a:r>
              <a:rPr lang="en-US" sz="2000" dirty="0">
                <a:effectLst/>
                <a:latin typeface="+mj-lt"/>
              </a:rPr>
              <a:t> cat </a:t>
            </a:r>
            <a:r>
              <a:rPr lang="en-US" sz="2000" dirty="0" err="1">
                <a:effectLst/>
                <a:latin typeface="+mj-lt"/>
              </a:rPr>
              <a:t>si</a:t>
            </a:r>
            <a:r>
              <a:rPr lang="en-US" sz="2000" dirty="0">
                <a:effectLst/>
                <a:latin typeface="+mj-lt"/>
              </a:rPr>
              <a:t> in </a:t>
            </a:r>
            <a:r>
              <a:rPr lang="en-US" sz="2000" dirty="0" err="1">
                <a:effectLst/>
                <a:latin typeface="+mj-lt"/>
              </a:rPr>
              <a:t>simulare</a:t>
            </a:r>
            <a:endParaRPr lang="en-US" sz="2000" dirty="0">
              <a:effectLst/>
              <a:latin typeface="+mj-lt"/>
            </a:endParaRPr>
          </a:p>
          <a:p>
            <a:pPr algn="l"/>
            <a:r>
              <a:rPr lang="en-US" sz="2000" dirty="0">
                <a:latin typeface="+mj-lt"/>
              </a:rPr>
              <a:t>~ </a:t>
            </a:r>
            <a:r>
              <a:rPr lang="en-US" sz="2000" dirty="0" err="1">
                <a:latin typeface="+mj-lt"/>
              </a:rPr>
              <a:t>gestionam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marginea</a:t>
            </a:r>
            <a:r>
              <a:rPr lang="en-US" sz="2000" dirty="0">
                <a:latin typeface="+mj-lt"/>
              </a:rPr>
              <a:t> de la </a:t>
            </a:r>
            <a:r>
              <a:rPr lang="en-US" sz="2000" dirty="0" err="1">
                <a:latin typeface="+mj-lt"/>
              </a:rPr>
              <a:t>simulare</a:t>
            </a:r>
            <a:r>
              <a:rPr lang="en-US" sz="2000" dirty="0">
                <a:latin typeface="+mj-lt"/>
              </a:rPr>
              <a:t>, </a:t>
            </a:r>
            <a:r>
              <a:rPr lang="en-US" sz="2000" dirty="0" err="1">
                <a:latin typeface="+mj-lt"/>
              </a:rPr>
              <a:t>evitand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eroarea</a:t>
            </a:r>
            <a:r>
              <a:rPr lang="en-US" sz="2000" dirty="0">
                <a:latin typeface="+mj-lt"/>
              </a:rPr>
              <a:t> de la </a:t>
            </a:r>
            <a:r>
              <a:rPr lang="en-US" sz="2000" dirty="0" err="1">
                <a:latin typeface="+mj-lt"/>
              </a:rPr>
              <a:t>inceput</a:t>
            </a:r>
            <a:r>
              <a:rPr lang="en-US" sz="2000" dirty="0">
                <a:latin typeface="+mj-lt"/>
              </a:rPr>
              <a:t> (k-1)&gt;0</a:t>
            </a:r>
          </a:p>
          <a:p>
            <a:pPr algn="l"/>
            <a:r>
              <a:rPr lang="en-US" sz="2000" dirty="0">
                <a:effectLst/>
                <a:latin typeface="+mj-lt"/>
              </a:rPr>
              <a:t>~ </a:t>
            </a:r>
            <a:r>
              <a:rPr lang="en-US" sz="2000" dirty="0" err="1">
                <a:effectLst/>
                <a:latin typeface="+mj-lt"/>
              </a:rPr>
              <a:t>grafice</a:t>
            </a:r>
            <a:r>
              <a:rPr lang="en-US" sz="2000" dirty="0">
                <a:effectLst/>
                <a:latin typeface="+mj-lt"/>
              </a:rPr>
              <a:t> bine explicate: </a:t>
            </a:r>
            <a:r>
              <a:rPr lang="en-US" sz="2000" dirty="0" err="1">
                <a:effectLst/>
                <a:latin typeface="+mj-lt"/>
              </a:rPr>
              <a:t>fiecare</a:t>
            </a:r>
            <a:r>
              <a:rPr lang="en-US" sz="2000" dirty="0">
                <a:effectLst/>
                <a:latin typeface="+mj-lt"/>
              </a:rPr>
              <a:t> </a:t>
            </a:r>
            <a:r>
              <a:rPr lang="en-US" sz="2000" dirty="0" err="1">
                <a:effectLst/>
                <a:latin typeface="+mj-lt"/>
              </a:rPr>
              <a:t>figura</a:t>
            </a:r>
            <a:r>
              <a:rPr lang="en-US" sz="2000" dirty="0">
                <a:effectLst/>
                <a:latin typeface="+mj-lt"/>
              </a:rPr>
              <a:t> ne </a:t>
            </a:r>
            <a:r>
              <a:rPr lang="en-US" sz="2000" dirty="0" err="1">
                <a:effectLst/>
                <a:latin typeface="+mj-lt"/>
              </a:rPr>
              <a:t>ajuta</a:t>
            </a:r>
            <a:r>
              <a:rPr lang="en-US" sz="2000" dirty="0">
                <a:effectLst/>
                <a:latin typeface="+mj-lt"/>
              </a:rPr>
              <a:t> sa </a:t>
            </a:r>
            <a:r>
              <a:rPr lang="en-US" sz="2000" dirty="0" err="1">
                <a:effectLst/>
                <a:latin typeface="+mj-lt"/>
              </a:rPr>
              <a:t>intelegem</a:t>
            </a:r>
            <a:r>
              <a:rPr lang="en-US" sz="2000" dirty="0">
                <a:effectLst/>
                <a:latin typeface="+mj-lt"/>
              </a:rPr>
              <a:t> </a:t>
            </a:r>
            <a:r>
              <a:rPr lang="en-US" sz="2000" dirty="0" err="1">
                <a:effectLst/>
                <a:latin typeface="+mj-lt"/>
              </a:rPr>
              <a:t>ceva</a:t>
            </a:r>
            <a:endParaRPr lang="en-US" sz="2000" dirty="0">
              <a:effectLst/>
              <a:latin typeface="+mj-lt"/>
            </a:endParaRPr>
          </a:p>
          <a:p>
            <a:pPr algn="l"/>
            <a:r>
              <a:rPr lang="en-US" sz="2000" dirty="0">
                <a:latin typeface="+mj-lt"/>
              </a:rPr>
              <a:t>~ </a:t>
            </a:r>
            <a:r>
              <a:rPr lang="en-US" sz="2000" dirty="0" err="1">
                <a:latin typeface="+mj-lt"/>
              </a:rPr>
              <a:t>simplitate</a:t>
            </a:r>
            <a:r>
              <a:rPr lang="en-US" sz="2000" dirty="0">
                <a:latin typeface="+mj-lt"/>
              </a:rPr>
              <a:t> in </a:t>
            </a:r>
            <a:r>
              <a:rPr lang="en-US" sz="2000" dirty="0" err="1">
                <a:latin typeface="+mj-lt"/>
              </a:rPr>
              <a:t>rezolvare</a:t>
            </a:r>
            <a:r>
              <a:rPr lang="en-US" sz="2000" dirty="0">
                <a:latin typeface="+mj-lt"/>
              </a:rPr>
              <a:t>: </a:t>
            </a:r>
            <a:r>
              <a:rPr lang="en-US" sz="2000" dirty="0" err="1">
                <a:latin typeface="+mj-lt"/>
              </a:rPr>
              <a:t>folosim</a:t>
            </a:r>
            <a:r>
              <a:rPr lang="en-US" sz="2000" dirty="0">
                <a:latin typeface="+mj-lt"/>
              </a:rPr>
              <a:t>  \  la </a:t>
            </a:r>
            <a:r>
              <a:rPr lang="en-US" sz="2000" dirty="0" err="1">
                <a:latin typeface="+mj-lt"/>
              </a:rPr>
              <a:t>regresie</a:t>
            </a:r>
            <a:endParaRPr lang="en-US" sz="2000" dirty="0">
              <a:latin typeface="+mj-lt"/>
            </a:endParaRPr>
          </a:p>
          <a:p>
            <a:pPr algn="l"/>
            <a:r>
              <a:rPr lang="en-US" sz="2000" dirty="0">
                <a:effectLst/>
                <a:latin typeface="+mj-lt"/>
              </a:rPr>
              <a:t>~ comparative cu toolbox-</a:t>
            </a:r>
            <a:r>
              <a:rPr lang="en-US" sz="2000" dirty="0" err="1">
                <a:effectLst/>
                <a:latin typeface="+mj-lt"/>
              </a:rPr>
              <a:t>ul</a:t>
            </a:r>
            <a:r>
              <a:rPr lang="en-US" sz="2000" dirty="0">
                <a:effectLst/>
                <a:latin typeface="+mj-lt"/>
              </a:rPr>
              <a:t> MATLAB: </a:t>
            </a:r>
            <a:r>
              <a:rPr lang="en-US" sz="2000" dirty="0" err="1">
                <a:effectLst/>
                <a:latin typeface="+mj-lt"/>
              </a:rPr>
              <a:t>nlarx</a:t>
            </a:r>
            <a:endParaRPr lang="en-US" sz="2000" dirty="0">
              <a:effectLst/>
              <a:latin typeface="+mj-lt"/>
            </a:endParaRPr>
          </a:p>
          <a:p>
            <a:pPr algn="l"/>
            <a:r>
              <a:rPr lang="en-US" sz="2000" dirty="0">
                <a:latin typeface="+mj-lt"/>
              </a:rPr>
              <a:t>~ </a:t>
            </a:r>
            <a:r>
              <a:rPr lang="en-US" sz="2000" dirty="0" err="1">
                <a:latin typeface="+mj-lt"/>
              </a:rPr>
              <a:t>cautam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ordinul</a:t>
            </a:r>
            <a:r>
              <a:rPr lang="en-US" sz="2000" dirty="0">
                <a:latin typeface="+mj-lt"/>
              </a:rPr>
              <a:t> automat </a:t>
            </a:r>
            <a:r>
              <a:rPr lang="en-US" sz="2000" dirty="0" err="1">
                <a:latin typeface="+mj-lt"/>
              </a:rPr>
              <a:t>prin</a:t>
            </a:r>
            <a:r>
              <a:rPr lang="en-US" sz="2000" dirty="0">
                <a:latin typeface="+mj-lt"/>
              </a:rPr>
              <a:t> for-</a:t>
            </a:r>
            <a:r>
              <a:rPr lang="en-US" sz="2000" dirty="0" err="1">
                <a:latin typeface="+mj-lt"/>
              </a:rPr>
              <a:t>uri</a:t>
            </a:r>
            <a:endParaRPr lang="ro-RO" sz="2000" dirty="0"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65635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FB5DF-561E-6705-D870-7A7056372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256787"/>
            <a:ext cx="10403352" cy="1220321"/>
          </a:xfrm>
        </p:spPr>
        <p:txBody>
          <a:bodyPr>
            <a:normAutofit fontScale="90000"/>
          </a:bodyPr>
          <a:lstStyle/>
          <a:p>
            <a:r>
              <a:rPr lang="ro-RO" b="0" i="0" dirty="0">
                <a:solidFill>
                  <a:srgbClr val="0070C0"/>
                </a:solidFill>
                <a:effectLst/>
              </a:rPr>
              <a:t>MODEL OPTI</a:t>
            </a:r>
            <a:r>
              <a:rPr lang="en-US" b="0" i="0" dirty="0">
                <a:solidFill>
                  <a:srgbClr val="0070C0"/>
                </a:solidFill>
                <a:effectLst/>
              </a:rPr>
              <a:t>M; </a:t>
            </a:r>
            <a:r>
              <a:rPr lang="ro-RO" b="0" i="0" dirty="0">
                <a:solidFill>
                  <a:srgbClr val="0070C0"/>
                </a:solidFill>
                <a:effectLst/>
              </a:rPr>
              <a:t>na = </a:t>
            </a:r>
            <a:r>
              <a:rPr lang="ro-RO" b="0" i="0" dirty="0" err="1">
                <a:solidFill>
                  <a:srgbClr val="0070C0"/>
                </a:solidFill>
                <a:effectLst/>
              </a:rPr>
              <a:t>nb</a:t>
            </a:r>
            <a:r>
              <a:rPr lang="ro-RO" b="0" i="0" dirty="0">
                <a:solidFill>
                  <a:srgbClr val="0070C0"/>
                </a:solidFill>
                <a:effectLst/>
              </a:rPr>
              <a:t> = </a:t>
            </a:r>
            <a:r>
              <a:rPr lang="en-US" b="0" i="0" dirty="0">
                <a:solidFill>
                  <a:srgbClr val="0070C0"/>
                </a:solidFill>
                <a:effectLst/>
              </a:rPr>
              <a:t>6; </a:t>
            </a:r>
            <a:r>
              <a:rPr lang="ro-RO" b="0" i="0" dirty="0">
                <a:solidFill>
                  <a:srgbClr val="0070C0"/>
                </a:solidFill>
                <a:effectLst/>
              </a:rPr>
              <a:t>m = </a:t>
            </a:r>
            <a:r>
              <a:rPr lang="en-US" b="0" i="0" dirty="0">
                <a:solidFill>
                  <a:srgbClr val="0070C0"/>
                </a:solidFill>
                <a:effectLst/>
              </a:rPr>
              <a:t>3;</a:t>
            </a:r>
            <a:br>
              <a:rPr lang="ro-RO" b="0" i="0" dirty="0">
                <a:solidFill>
                  <a:srgbClr val="0070C0"/>
                </a:solidFill>
                <a:effectLst/>
              </a:rPr>
            </a:br>
            <a:r>
              <a:rPr lang="ro-RO" b="0" i="0" dirty="0">
                <a:solidFill>
                  <a:srgbClr val="0070C0"/>
                </a:solidFill>
                <a:effectLst/>
              </a:rPr>
              <a:t>MSE simulare validare =</a:t>
            </a:r>
            <a:r>
              <a:rPr lang="en-US" b="0" i="0" dirty="0">
                <a:solidFill>
                  <a:srgbClr val="0070C0"/>
                </a:solidFill>
                <a:effectLst/>
              </a:rPr>
              <a:t> </a:t>
            </a:r>
            <a:r>
              <a:rPr lang="en-US" dirty="0">
                <a:solidFill>
                  <a:srgbClr val="0070C0"/>
                </a:solidFill>
                <a:latin typeface="Menlo"/>
              </a:rPr>
              <a:t>0.658017;</a:t>
            </a:r>
            <a:br>
              <a:rPr lang="ro-RO" b="0" i="0" dirty="0">
                <a:effectLst/>
                <a:latin typeface="Menlo"/>
              </a:rPr>
            </a:br>
            <a:r>
              <a:rPr lang="en-US" b="0" i="0" dirty="0">
                <a:solidFill>
                  <a:srgbClr val="0070C0"/>
                </a:solidFill>
                <a:effectLst/>
              </a:rPr>
              <a:t>;</a:t>
            </a:r>
            <a:br>
              <a:rPr lang="ro-RO" b="0" i="0" dirty="0">
                <a:effectLst/>
                <a:latin typeface="Menlo"/>
              </a:rPr>
            </a:br>
            <a:endParaRPr lang="ro-RO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56A13E-4DD9-2D08-1ABC-F46891958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630" y="1283390"/>
            <a:ext cx="4086795" cy="24768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EA9A26-BA99-58ED-0EF3-D8A3EADAE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1845" y="1283390"/>
            <a:ext cx="4096322" cy="240063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D4D5B07-ABE9-78CB-4C12-AB454DC683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4445" y="3764998"/>
            <a:ext cx="4039164" cy="238158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B14C39F-424D-F168-5F34-EA4505798A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0090" y="3774758"/>
            <a:ext cx="4096322" cy="25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792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852B9-46F1-E296-F171-E6D05C0D3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200692"/>
            <a:ext cx="8911687" cy="877831"/>
          </a:xfrm>
        </p:spPr>
        <p:txBody>
          <a:bodyPr/>
          <a:lstStyle/>
          <a:p>
            <a:r>
              <a:rPr lang="en-US" dirty="0" err="1">
                <a:solidFill>
                  <a:srgbClr val="0070C0"/>
                </a:solidFill>
              </a:rPr>
              <a:t>Predictie</a:t>
            </a:r>
            <a:endParaRPr lang="ro-RO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4AB087-6045-4249-BA42-782D1E3F6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6920" y="838199"/>
            <a:ext cx="8382000" cy="5401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991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F5888-1EEB-DFC3-851A-9761873ED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278" y="358386"/>
            <a:ext cx="3088861" cy="829552"/>
          </a:xfrm>
        </p:spPr>
        <p:txBody>
          <a:bodyPr/>
          <a:lstStyle/>
          <a:p>
            <a:r>
              <a:rPr lang="en-US" dirty="0" err="1">
                <a:solidFill>
                  <a:srgbClr val="0070C0"/>
                </a:solidFill>
              </a:rPr>
              <a:t>Simulare</a:t>
            </a:r>
            <a:endParaRPr lang="ro-RO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154A0C-FD54-0037-B825-57BD6DF6B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5040" y="928389"/>
            <a:ext cx="8353366" cy="5396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962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FC80593-7640-7635-5FD2-3C9B1F07D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3606" y="644892"/>
            <a:ext cx="8911687" cy="1280890"/>
          </a:xfrm>
        </p:spPr>
        <p:txBody>
          <a:bodyPr/>
          <a:lstStyle/>
          <a:p>
            <a:r>
              <a:rPr lang="en-US" dirty="0" err="1">
                <a:solidFill>
                  <a:srgbClr val="0070C0"/>
                </a:solidFill>
              </a:rPr>
              <a:t>Pentru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modelul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optim</a:t>
            </a:r>
            <a:r>
              <a:rPr lang="en-US" dirty="0">
                <a:solidFill>
                  <a:srgbClr val="0070C0"/>
                </a:solidFill>
              </a:rPr>
              <a:t>, </a:t>
            </a:r>
            <a:r>
              <a:rPr lang="en-US" dirty="0" err="1">
                <a:solidFill>
                  <a:srgbClr val="0070C0"/>
                </a:solidFill>
              </a:rPr>
              <a:t>erorile</a:t>
            </a:r>
            <a:r>
              <a:rPr lang="en-US" dirty="0">
                <a:solidFill>
                  <a:srgbClr val="0070C0"/>
                </a:solidFill>
              </a:rPr>
              <a:t> sunt:</a:t>
            </a:r>
          </a:p>
        </p:txBody>
      </p:sp>
      <p:sp>
        <p:nvSpPr>
          <p:cNvPr id="3" name="CasetăText 2">
            <a:extLst>
              <a:ext uri="{FF2B5EF4-FFF2-40B4-BE49-F238E27FC236}">
                <a16:creationId xmlns:a16="http://schemas.microsoft.com/office/drawing/2014/main" id="{2369B87D-E082-761D-8260-8E545C51CD11}"/>
              </a:ext>
            </a:extLst>
          </p:cNvPr>
          <p:cNvSpPr txBox="1"/>
          <p:nvPr/>
        </p:nvSpPr>
        <p:spPr>
          <a:xfrm>
            <a:off x="945572" y="1741116"/>
            <a:ext cx="7741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na</a:t>
            </a:r>
            <a:r>
              <a:rPr lang="en-US" dirty="0"/>
              <a:t> = </a:t>
            </a:r>
            <a:r>
              <a:rPr lang="en-US" dirty="0" err="1"/>
              <a:t>nb</a:t>
            </a:r>
            <a:r>
              <a:rPr lang="en-US" dirty="0"/>
              <a:t> = 6, m=3, </a:t>
            </a:r>
            <a:r>
              <a:rPr lang="en-US" dirty="0" err="1"/>
              <a:t>nk</a:t>
            </a:r>
            <a:r>
              <a:rPr lang="en-US" dirty="0"/>
              <a:t>=1</a:t>
            </a:r>
          </a:p>
        </p:txBody>
      </p:sp>
      <p:pic>
        <p:nvPicPr>
          <p:cNvPr id="5" name="Imagine 4" descr="O imagine care conține text, captură de ecran, Font, număr&#10;&#10;Conținutul generat de inteligența artificială poate fi incorect.">
            <a:extLst>
              <a:ext uri="{FF2B5EF4-FFF2-40B4-BE49-F238E27FC236}">
                <a16:creationId xmlns:a16="http://schemas.microsoft.com/office/drawing/2014/main" id="{1B36A394-DAC6-7478-E9A1-F2F490209F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572" y="2630220"/>
            <a:ext cx="5939925" cy="2846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076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EE1169DD-C39C-DF1E-CF65-73D9323AD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525787"/>
            <a:ext cx="8911687" cy="860561"/>
          </a:xfrm>
        </p:spPr>
        <p:txBody>
          <a:bodyPr/>
          <a:lstStyle/>
          <a:p>
            <a:r>
              <a:rPr lang="en-US" dirty="0" err="1">
                <a:solidFill>
                  <a:srgbClr val="0070C0"/>
                </a:solidFill>
              </a:rPr>
              <a:t>Discutie</a:t>
            </a:r>
            <a:r>
              <a:rPr lang="en-US" dirty="0">
                <a:solidFill>
                  <a:srgbClr val="0070C0"/>
                </a:solidFill>
              </a:rPr>
              <a:t> a </a:t>
            </a:r>
            <a:r>
              <a:rPr lang="en-US" dirty="0" err="1">
                <a:solidFill>
                  <a:srgbClr val="0070C0"/>
                </a:solidFill>
              </a:rPr>
              <a:t>rezultatelor</a:t>
            </a:r>
            <a:endParaRPr lang="en-US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tăText 2">
                <a:extLst>
                  <a:ext uri="{FF2B5EF4-FFF2-40B4-BE49-F238E27FC236}">
                    <a16:creationId xmlns:a16="http://schemas.microsoft.com/office/drawing/2014/main" id="{B6963B87-3C5D-D9A9-0BDA-2F98DDEA66D6}"/>
                  </a:ext>
                </a:extLst>
              </p:cNvPr>
              <p:cNvSpPr txBox="1"/>
              <p:nvPr/>
            </p:nvSpPr>
            <p:spPr>
              <a:xfrm>
                <a:off x="973938" y="1455223"/>
                <a:ext cx="10765777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Calitatea </a:t>
                </a:r>
                <a:r>
                  <a:rPr lang="en-US" b="1" dirty="0" err="1"/>
                  <a:t>modelului</a:t>
                </a:r>
                <a:r>
                  <a:rPr lang="en-US" b="1" dirty="0"/>
                  <a:t> pe </a:t>
                </a:r>
                <a:r>
                  <a:rPr lang="en-US" b="1" dirty="0" err="1"/>
                  <a:t>datele</a:t>
                </a:r>
                <a:r>
                  <a:rPr lang="en-US" b="1" dirty="0"/>
                  <a:t> de </a:t>
                </a:r>
                <a:r>
                  <a:rPr lang="en-US" b="1" dirty="0" err="1"/>
                  <a:t>identificare</a:t>
                </a:r>
                <a:endParaRPr lang="en-US" b="1" dirty="0"/>
              </a:p>
              <a:p>
                <a:r>
                  <a:rPr lang="en-US" dirty="0"/>
                  <a:t>	</a:t>
                </a:r>
                <a:r>
                  <a:rPr lang="en-US" dirty="0" err="1"/>
                  <a:t>Modelul</a:t>
                </a:r>
                <a:r>
                  <a:rPr lang="en-US" dirty="0"/>
                  <a:t> NARX a </a:t>
                </a:r>
                <a:r>
                  <a:rPr lang="en-US" dirty="0" err="1"/>
                  <a:t>fost</a:t>
                </a:r>
                <a:r>
                  <a:rPr lang="en-US" dirty="0"/>
                  <a:t> </a:t>
                </a:r>
                <a:r>
                  <a:rPr lang="en-US" dirty="0" err="1"/>
                  <a:t>identificat</a:t>
                </a:r>
                <a:r>
                  <a:rPr lang="en-US" dirty="0"/>
                  <a:t> </a:t>
                </a:r>
                <a:r>
                  <a:rPr lang="en-US" dirty="0" err="1"/>
                  <a:t>pentru</a:t>
                </a:r>
                <a:r>
                  <a:rPr lang="en-US" dirty="0"/>
                  <a:t> </a:t>
                </a:r>
                <a:r>
                  <a:rPr lang="en-US" dirty="0" err="1"/>
                  <a:t>diferite</a:t>
                </a:r>
                <a:r>
                  <a:rPr lang="en-US" dirty="0"/>
                  <a:t> </a:t>
                </a:r>
                <a:r>
                  <a:rPr lang="en-US" dirty="0" err="1"/>
                  <a:t>valori</a:t>
                </a:r>
                <a:r>
                  <a:rPr lang="en-US" dirty="0"/>
                  <a:t> ale </a:t>
                </a:r>
                <a:r>
                  <a:rPr lang="en-US" dirty="0" err="1"/>
                  <a:t>ordinelor</a:t>
                </a:r>
                <a:r>
                  <a:rPr lang="en-US" dirty="0"/>
                  <a:t> </a:t>
                </a:r>
                <a:r>
                  <a:rPr lang="en-US" dirty="0" err="1"/>
                  <a:t>na</a:t>
                </a:r>
                <a:r>
                  <a:rPr lang="en-US" dirty="0"/>
                  <a:t>=</a:t>
                </a:r>
                <a:r>
                  <a:rPr lang="en-US" dirty="0" err="1"/>
                  <a:t>nb</a:t>
                </a:r>
                <a:r>
                  <a:rPr lang="en-US" dirty="0"/>
                  <a:t> </a:t>
                </a:r>
                <a:r>
                  <a:rPr lang="en-US" dirty="0" err="1"/>
                  <a:t>și</a:t>
                </a:r>
                <a:r>
                  <a:rPr lang="en-US" dirty="0"/>
                  <a:t> ale </a:t>
                </a:r>
                <a:r>
                  <a:rPr lang="en-US" dirty="0" err="1"/>
                  <a:t>gradului</a:t>
                </a:r>
                <a:r>
                  <a:rPr lang="en-US" dirty="0"/>
                  <a:t> de </a:t>
                </a:r>
                <a:r>
                  <a:rPr lang="en-US" dirty="0" err="1"/>
                  <a:t>neliniaritate</a:t>
                </a:r>
                <a:r>
                  <a:rPr lang="en-US" dirty="0"/>
                  <a:t> m, </a:t>
                </a:r>
                <a:r>
                  <a:rPr lang="en-US" dirty="0" err="1"/>
                  <a:t>folosind</a:t>
                </a:r>
                <a:r>
                  <a:rPr lang="en-US" dirty="0"/>
                  <a:t> </a:t>
                </a:r>
                <a:r>
                  <a:rPr lang="en-US" dirty="0" err="1"/>
                  <a:t>drept</a:t>
                </a:r>
                <a:r>
                  <a:rPr lang="en-US" dirty="0"/>
                  <a:t> </a:t>
                </a:r>
                <a:r>
                  <a:rPr lang="en-US" dirty="0" err="1"/>
                  <a:t>criteriu</a:t>
                </a:r>
                <a:r>
                  <a:rPr lang="en-US" dirty="0"/>
                  <a:t> de </a:t>
                </a:r>
                <a:r>
                  <a:rPr lang="en-US" dirty="0" err="1"/>
                  <a:t>selecție</a:t>
                </a:r>
                <a:r>
                  <a:rPr lang="en-US" dirty="0"/>
                  <a:t> </a:t>
                </a:r>
                <a:r>
                  <a:rPr lang="en-US" b="1" dirty="0" err="1"/>
                  <a:t>eroarea</a:t>
                </a:r>
                <a:r>
                  <a:rPr lang="en-US" b="1" dirty="0"/>
                  <a:t> </a:t>
                </a:r>
                <a:r>
                  <a:rPr lang="en-US" b="1" dirty="0" err="1"/>
                  <a:t>medie</a:t>
                </a:r>
                <a:r>
                  <a:rPr lang="en-US" b="1" dirty="0"/>
                  <a:t> </a:t>
                </a:r>
                <a:r>
                  <a:rPr lang="en-US" b="1" dirty="0" err="1"/>
                  <a:t>pătratică</a:t>
                </a:r>
                <a:r>
                  <a:rPr lang="en-US" b="1" dirty="0"/>
                  <a:t> (MSE) la </a:t>
                </a:r>
                <a:r>
                  <a:rPr lang="en-US" b="1" dirty="0" err="1"/>
                  <a:t>simulare</a:t>
                </a:r>
                <a:r>
                  <a:rPr lang="en-US" b="1" dirty="0"/>
                  <a:t> pe </a:t>
                </a:r>
                <a:r>
                  <a:rPr lang="en-US" b="1" dirty="0" err="1"/>
                  <a:t>setul</a:t>
                </a:r>
                <a:r>
                  <a:rPr lang="en-US" b="1" dirty="0"/>
                  <a:t> de </a:t>
                </a:r>
                <a:r>
                  <a:rPr lang="en-US" b="1" dirty="0" err="1"/>
                  <a:t>validare</a:t>
                </a:r>
                <a:r>
                  <a:rPr lang="en-US" dirty="0"/>
                  <a:t>, </a:t>
                </a:r>
                <a:r>
                  <a:rPr lang="en-US" dirty="0" err="1"/>
                  <a:t>criteriu</a:t>
                </a:r>
                <a:r>
                  <a:rPr lang="en-US" dirty="0"/>
                  <a:t> care </a:t>
                </a:r>
                <a:r>
                  <a:rPr lang="en-US" dirty="0" err="1"/>
                  <a:t>evaluează</a:t>
                </a:r>
                <a:r>
                  <a:rPr lang="en-US" dirty="0"/>
                  <a:t> cel </a:t>
                </a:r>
                <a:r>
                  <a:rPr lang="en-US" dirty="0" err="1"/>
                  <a:t>mai</a:t>
                </a:r>
                <a:r>
                  <a:rPr lang="en-US" dirty="0"/>
                  <a:t> </a:t>
                </a:r>
                <a:r>
                  <a:rPr lang="en-US" dirty="0" err="1"/>
                  <a:t>corect</a:t>
                </a:r>
                <a:r>
                  <a:rPr lang="en-US" dirty="0"/>
                  <a:t> </a:t>
                </a:r>
                <a:r>
                  <a:rPr lang="en-US" dirty="0" err="1"/>
                  <a:t>capacitatea</a:t>
                </a:r>
                <a:r>
                  <a:rPr lang="en-US" dirty="0"/>
                  <a:t> de </a:t>
                </a:r>
                <a:r>
                  <a:rPr lang="en-US" dirty="0" err="1"/>
                  <a:t>generalizare</a:t>
                </a:r>
                <a:r>
                  <a:rPr lang="en-US" dirty="0"/>
                  <a:t> a </a:t>
                </a:r>
                <a:r>
                  <a:rPr lang="en-US" dirty="0" err="1"/>
                  <a:t>modelului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	</a:t>
                </a:r>
                <a:r>
                  <a:rPr lang="en-US" dirty="0" err="1"/>
                  <a:t>Rezultatele</a:t>
                </a:r>
                <a:r>
                  <a:rPr lang="en-US" dirty="0"/>
                  <a:t> </a:t>
                </a:r>
                <a:r>
                  <a:rPr lang="en-US" dirty="0" err="1"/>
                  <a:t>arată</a:t>
                </a:r>
                <a:r>
                  <a:rPr lang="en-US" dirty="0"/>
                  <a:t> </a:t>
                </a:r>
                <a:r>
                  <a:rPr lang="en-US" dirty="0" err="1"/>
                  <a:t>că</a:t>
                </a:r>
                <a:r>
                  <a:rPr lang="en-US" dirty="0"/>
                  <a:t>, </a:t>
                </a:r>
                <a:r>
                  <a:rPr lang="en-US" dirty="0" err="1"/>
                  <a:t>pentru</a:t>
                </a:r>
                <a:r>
                  <a:rPr lang="en-US" dirty="0"/>
                  <a:t> </a:t>
                </a:r>
                <a:r>
                  <a:rPr lang="en-US" dirty="0" err="1"/>
                  <a:t>valori</a:t>
                </a:r>
                <a:r>
                  <a:rPr lang="en-US" dirty="0"/>
                  <a:t> </a:t>
                </a:r>
                <a:r>
                  <a:rPr lang="en-US" dirty="0" err="1"/>
                  <a:t>mici</a:t>
                </a:r>
                <a:r>
                  <a:rPr lang="en-US" dirty="0"/>
                  <a:t> ale </a:t>
                </a:r>
                <a:r>
                  <a:rPr lang="en-US" dirty="0" err="1"/>
                  <a:t>ordinului</a:t>
                </a:r>
                <a:r>
                  <a:rPr lang="en-US" dirty="0"/>
                  <a:t> </a:t>
                </a:r>
                <a:r>
                  <a:rPr lang="en-US" dirty="0" err="1"/>
                  <a:t>dinamic</a:t>
                </a:r>
                <a:r>
                  <a:rPr lang="en-US" dirty="0"/>
                  <a:t>, </a:t>
                </a:r>
                <a:r>
                  <a:rPr lang="en-US" dirty="0" err="1"/>
                  <a:t>eroarea</a:t>
                </a:r>
                <a:r>
                  <a:rPr lang="en-US" dirty="0"/>
                  <a:t> de </a:t>
                </a:r>
                <a:r>
                  <a:rPr lang="en-US" dirty="0" err="1"/>
                  <a:t>simulare</a:t>
                </a:r>
                <a:r>
                  <a:rPr lang="en-US" dirty="0"/>
                  <a:t> </a:t>
                </a:r>
                <a:r>
                  <a:rPr lang="en-US" dirty="0" err="1"/>
                  <a:t>este</a:t>
                </a:r>
                <a:r>
                  <a:rPr lang="en-US" dirty="0"/>
                  <a:t> </a:t>
                </a:r>
                <a:r>
                  <a:rPr lang="en-US" dirty="0" err="1"/>
                  <a:t>ridicată</a:t>
                </a:r>
                <a:r>
                  <a:rPr lang="en-US" dirty="0"/>
                  <a:t>, </a:t>
                </a:r>
                <a:r>
                  <a:rPr lang="en-US" dirty="0" err="1"/>
                  <a:t>ceea</a:t>
                </a:r>
                <a:r>
                  <a:rPr lang="en-US" dirty="0"/>
                  <a:t> </a:t>
                </a:r>
                <a:r>
                  <a:rPr lang="en-US" dirty="0" err="1"/>
                  <a:t>ce</a:t>
                </a:r>
                <a:r>
                  <a:rPr lang="en-US" dirty="0"/>
                  <a:t> </a:t>
                </a:r>
                <a:r>
                  <a:rPr lang="en-US" dirty="0" err="1"/>
                  <a:t>indică</a:t>
                </a:r>
                <a:r>
                  <a:rPr lang="en-US" dirty="0"/>
                  <a:t> o </a:t>
                </a:r>
                <a:r>
                  <a:rPr lang="en-US" dirty="0" err="1"/>
                  <a:t>descriere</a:t>
                </a:r>
                <a:r>
                  <a:rPr lang="en-US" dirty="0"/>
                  <a:t> </a:t>
                </a:r>
                <a:r>
                  <a:rPr lang="en-US" dirty="0" err="1"/>
                  <a:t>insuficientă</a:t>
                </a:r>
                <a:r>
                  <a:rPr lang="en-US" dirty="0"/>
                  <a:t> a </a:t>
                </a:r>
                <a:r>
                  <a:rPr lang="en-US" dirty="0" err="1"/>
                  <a:t>dinamicii</a:t>
                </a:r>
                <a:r>
                  <a:rPr lang="en-US" dirty="0"/>
                  <a:t> </a:t>
                </a:r>
                <a:r>
                  <a:rPr lang="en-US" dirty="0" err="1"/>
                  <a:t>sistemului</a:t>
                </a:r>
                <a:r>
                  <a:rPr lang="en-US" dirty="0"/>
                  <a:t>. Pe </a:t>
                </a:r>
                <a:r>
                  <a:rPr lang="en-US" dirty="0" err="1"/>
                  <a:t>măsură</a:t>
                </a:r>
                <a:r>
                  <a:rPr lang="en-US" dirty="0"/>
                  <a:t> </a:t>
                </a:r>
                <a:r>
                  <a:rPr lang="en-US" dirty="0" err="1"/>
                  <a:t>ce</a:t>
                </a:r>
                <a:r>
                  <a:rPr lang="en-US" dirty="0"/>
                  <a:t> </a:t>
                </a:r>
                <a:r>
                  <a:rPr lang="en-US" dirty="0" err="1"/>
                  <a:t>ordinul</a:t>
                </a:r>
                <a:r>
                  <a:rPr lang="en-US" dirty="0"/>
                  <a:t> na </a:t>
                </a:r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nb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err="1"/>
                  <a:t>și</a:t>
                </a:r>
                <a:r>
                  <a:rPr lang="en-US" dirty="0"/>
                  <a:t> </a:t>
                </a:r>
                <a:r>
                  <a:rPr lang="en-US" dirty="0" err="1"/>
                  <a:t>gradul</a:t>
                </a:r>
                <a:r>
                  <a:rPr lang="en-US" dirty="0"/>
                  <a:t> m </a:t>
                </a:r>
                <a:r>
                  <a:rPr lang="en-US" dirty="0" err="1"/>
                  <a:t>cresc</a:t>
                </a:r>
                <a:r>
                  <a:rPr lang="en-US" dirty="0"/>
                  <a:t>, </a:t>
                </a:r>
                <a:r>
                  <a:rPr lang="en-US" dirty="0" err="1"/>
                  <a:t>calitatea</a:t>
                </a:r>
                <a:r>
                  <a:rPr lang="en-US" dirty="0"/>
                  <a:t> </a:t>
                </a:r>
                <a:r>
                  <a:rPr lang="en-US" dirty="0" err="1"/>
                  <a:t>simulării</a:t>
                </a:r>
                <a:r>
                  <a:rPr lang="en-US" dirty="0"/>
                  <a:t> se </a:t>
                </a:r>
                <a:r>
                  <a:rPr lang="en-US" dirty="0" err="1"/>
                  <a:t>îmbunătățește</a:t>
                </a:r>
                <a:r>
                  <a:rPr lang="en-US" dirty="0"/>
                  <a:t>, </a:t>
                </a:r>
                <a:r>
                  <a:rPr lang="en-US" dirty="0" err="1"/>
                  <a:t>iar</a:t>
                </a:r>
                <a:r>
                  <a:rPr lang="en-US" dirty="0"/>
                  <a:t> MSE pe </a:t>
                </a:r>
                <a:r>
                  <a:rPr lang="en-US" dirty="0" err="1"/>
                  <a:t>validare</a:t>
                </a:r>
                <a:r>
                  <a:rPr lang="en-US" dirty="0"/>
                  <a:t> </a:t>
                </a:r>
                <a:r>
                  <a:rPr lang="en-US" dirty="0" err="1"/>
                  <a:t>scade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Modelul</a:t>
                </a:r>
                <a:r>
                  <a:rPr lang="en-US" dirty="0"/>
                  <a:t> </a:t>
                </a:r>
                <a:r>
                  <a:rPr lang="en-US" dirty="0" err="1"/>
                  <a:t>optim</a:t>
                </a:r>
                <a:r>
                  <a:rPr lang="en-US" dirty="0"/>
                  <a:t> </a:t>
                </a:r>
                <a:r>
                  <a:rPr lang="en-US" dirty="0" err="1"/>
                  <a:t>obținut</a:t>
                </a:r>
                <a:r>
                  <a:rPr lang="en-US" dirty="0"/>
                  <a:t> </a:t>
                </a:r>
                <a:r>
                  <a:rPr lang="en-US" dirty="0" err="1"/>
                  <a:t>este</a:t>
                </a:r>
                <a:r>
                  <a:rPr lang="en-US" dirty="0"/>
                  <a:t> </a:t>
                </a:r>
                <a:r>
                  <a:rPr lang="en-US" dirty="0" err="1"/>
                  <a:t>caracterizat</a:t>
                </a:r>
                <a:r>
                  <a:rPr lang="en-US" dirty="0"/>
                  <a:t> de: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ar-AE" dirty="0"/>
              </a:p>
              <a:p>
                <a:r>
                  <a:rPr lang="en-US" dirty="0" err="1"/>
                  <a:t>pentru</a:t>
                </a:r>
                <a:r>
                  <a:rPr lang="en-US" dirty="0"/>
                  <a:t> care se </a:t>
                </a:r>
                <a:r>
                  <a:rPr lang="en-US" dirty="0" err="1"/>
                  <a:t>obține</a:t>
                </a:r>
                <a:r>
                  <a:rPr lang="en-US" dirty="0"/>
                  <a:t> </a:t>
                </a:r>
                <a:r>
                  <a:rPr lang="en-US" dirty="0" err="1"/>
                  <a:t>cea</a:t>
                </a:r>
                <a:r>
                  <a:rPr lang="en-US" dirty="0"/>
                  <a:t> </a:t>
                </a:r>
                <a:r>
                  <a:rPr lang="en-US" dirty="0" err="1"/>
                  <a:t>mai</a:t>
                </a:r>
                <a:r>
                  <a:rPr lang="en-US" dirty="0"/>
                  <a:t> </a:t>
                </a:r>
                <a:r>
                  <a:rPr lang="en-US" dirty="0" err="1"/>
                  <a:t>mică</a:t>
                </a:r>
                <a:r>
                  <a:rPr lang="en-US" dirty="0"/>
                  <a:t> </a:t>
                </a:r>
                <a:r>
                  <a:rPr lang="en-US" dirty="0" err="1"/>
                  <a:t>eroare</a:t>
                </a:r>
                <a:r>
                  <a:rPr lang="en-US" dirty="0"/>
                  <a:t> de </a:t>
                </a:r>
                <a:r>
                  <a:rPr lang="en-US" dirty="0" err="1"/>
                  <a:t>simulare</a:t>
                </a:r>
                <a:r>
                  <a:rPr lang="en-US" dirty="0"/>
                  <a:t> pe </a:t>
                </a:r>
                <a:r>
                  <a:rPr lang="en-US" dirty="0" err="1"/>
                  <a:t>setul</a:t>
                </a:r>
                <a:r>
                  <a:rPr lang="en-US" dirty="0"/>
                  <a:t> de </a:t>
                </a:r>
                <a:r>
                  <a:rPr lang="en-US" dirty="0" err="1"/>
                  <a:t>validare</a:t>
                </a:r>
                <a:r>
                  <a:rPr lang="en-US" dirty="0"/>
                  <a:t>, </a:t>
                </a:r>
                <a:r>
                  <a:rPr lang="en-US" dirty="0" err="1"/>
                  <a:t>fără</a:t>
                </a:r>
                <a:r>
                  <a:rPr lang="en-US" dirty="0"/>
                  <a:t> </a:t>
                </a:r>
                <a:r>
                  <a:rPr lang="en-US" dirty="0" err="1"/>
                  <a:t>apariția</a:t>
                </a:r>
                <a:r>
                  <a:rPr lang="en-US" dirty="0"/>
                  <a:t> </a:t>
                </a:r>
                <a:r>
                  <a:rPr lang="en-US" dirty="0" err="1"/>
                  <a:t>instabilităților</a:t>
                </a:r>
                <a:r>
                  <a:rPr lang="en-US" dirty="0"/>
                  <a:t>. </a:t>
                </a:r>
                <a:r>
                  <a:rPr lang="en-US" dirty="0" err="1"/>
                  <a:t>Compararea</a:t>
                </a:r>
                <a:r>
                  <a:rPr lang="en-US" dirty="0"/>
                  <a:t> </a:t>
                </a:r>
                <a:r>
                  <a:rPr lang="en-US" dirty="0" err="1"/>
                  <a:t>grafică</a:t>
                </a:r>
                <a:r>
                  <a:rPr lang="en-US" dirty="0"/>
                  <a:t> (compare) </a:t>
                </a:r>
                <a:r>
                  <a:rPr lang="en-US" dirty="0" err="1"/>
                  <a:t>arată</a:t>
                </a:r>
                <a:r>
                  <a:rPr lang="en-US" dirty="0"/>
                  <a:t> </a:t>
                </a:r>
                <a:r>
                  <a:rPr lang="en-US" dirty="0" err="1"/>
                  <a:t>că</a:t>
                </a:r>
                <a:r>
                  <a:rPr lang="en-US" dirty="0"/>
                  <a:t> </a:t>
                </a:r>
                <a:r>
                  <a:rPr lang="en-US" dirty="0" err="1"/>
                  <a:t>modelul</a:t>
                </a:r>
                <a:r>
                  <a:rPr lang="en-US" dirty="0"/>
                  <a:t> </a:t>
                </a:r>
                <a:r>
                  <a:rPr lang="en-US" dirty="0" err="1"/>
                  <a:t>urmărește</a:t>
                </a:r>
                <a:r>
                  <a:rPr lang="en-US" dirty="0"/>
                  <a:t> </a:t>
                </a:r>
                <a:r>
                  <a:rPr lang="en-US" dirty="0" err="1"/>
                  <a:t>corect</a:t>
                </a:r>
                <a:r>
                  <a:rPr lang="en-US" dirty="0"/>
                  <a:t> </a:t>
                </a:r>
                <a:r>
                  <a:rPr lang="en-US" dirty="0" err="1"/>
                  <a:t>dinamica</a:t>
                </a:r>
                <a:r>
                  <a:rPr lang="en-US" dirty="0"/>
                  <a:t> </a:t>
                </a:r>
                <a:r>
                  <a:rPr lang="en-US" dirty="0" err="1"/>
                  <a:t>ieșirii</a:t>
                </a:r>
                <a:r>
                  <a:rPr lang="en-US" dirty="0"/>
                  <a:t> </a:t>
                </a:r>
                <a:r>
                  <a:rPr lang="en-US" dirty="0" err="1"/>
                  <a:t>reale</a:t>
                </a:r>
                <a:r>
                  <a:rPr lang="en-US" dirty="0"/>
                  <a:t> </a:t>
                </a:r>
                <a:r>
                  <a:rPr lang="en-US" dirty="0" err="1"/>
                  <a:t>atât</a:t>
                </a:r>
                <a:r>
                  <a:rPr lang="en-US" dirty="0"/>
                  <a:t> pe </a:t>
                </a:r>
                <a:r>
                  <a:rPr lang="en-US" dirty="0" err="1"/>
                  <a:t>datele</a:t>
                </a:r>
                <a:r>
                  <a:rPr lang="en-US" dirty="0"/>
                  <a:t> de </a:t>
                </a:r>
                <a:r>
                  <a:rPr lang="en-US" dirty="0" err="1"/>
                  <a:t>identificare</a:t>
                </a:r>
                <a:r>
                  <a:rPr lang="en-US" dirty="0"/>
                  <a:t>, </a:t>
                </a:r>
                <a:r>
                  <a:rPr lang="en-US" dirty="0" err="1"/>
                  <a:t>cât</a:t>
                </a:r>
                <a:r>
                  <a:rPr lang="en-US" dirty="0"/>
                  <a:t> </a:t>
                </a:r>
                <a:r>
                  <a:rPr lang="en-US" dirty="0" err="1"/>
                  <a:t>și</a:t>
                </a:r>
                <a:r>
                  <a:rPr lang="en-US" dirty="0"/>
                  <a:t> pe </a:t>
                </a:r>
                <a:r>
                  <a:rPr lang="en-US" dirty="0" err="1"/>
                  <a:t>cele</a:t>
                </a:r>
                <a:r>
                  <a:rPr lang="en-US" dirty="0"/>
                  <a:t> de </a:t>
                </a:r>
                <a:r>
                  <a:rPr lang="en-US" dirty="0" err="1"/>
                  <a:t>validare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asetăText 2">
                <a:extLst>
                  <a:ext uri="{FF2B5EF4-FFF2-40B4-BE49-F238E27FC236}">
                    <a16:creationId xmlns:a16="http://schemas.microsoft.com/office/drawing/2014/main" id="{B6963B87-3C5D-D9A9-0BDA-2F98DDEA66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938" y="1455223"/>
                <a:ext cx="10765777" cy="3970318"/>
              </a:xfrm>
              <a:prstGeom prst="rect">
                <a:avLst/>
              </a:prstGeom>
              <a:blipFill>
                <a:blip r:embed="rId2"/>
                <a:stretch>
                  <a:fillRect l="-510" t="-922" r="-453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1805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ine 3" descr="O imagine care conține text, Font, scris de mână, captură de ecran&#10;&#10;Conținutul generat de inteligența artificială poate fi incorect.">
            <a:extLst>
              <a:ext uri="{FF2B5EF4-FFF2-40B4-BE49-F238E27FC236}">
                <a16:creationId xmlns:a16="http://schemas.microsoft.com/office/drawing/2014/main" id="{64CD935D-70AD-5DCC-507B-DD800E07CF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5001" y="776748"/>
            <a:ext cx="6823464" cy="5244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1545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2DE2A6AC-87F9-8AB4-3DE7-71C95EF72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Cod </a:t>
            </a:r>
            <a:r>
              <a:rPr lang="en-US" dirty="0" err="1">
                <a:solidFill>
                  <a:srgbClr val="0070C0"/>
                </a:solidFill>
              </a:rPr>
              <a:t>sursa</a:t>
            </a:r>
            <a:r>
              <a:rPr lang="en-US" dirty="0">
                <a:solidFill>
                  <a:srgbClr val="0070C0"/>
                </a:solidFill>
              </a:rPr>
              <a:t>: </a:t>
            </a:r>
          </a:p>
        </p:txBody>
      </p:sp>
    </p:spTree>
    <p:extLst>
      <p:ext uri="{BB962C8B-B14F-4D97-AF65-F5344CB8AC3E}">
        <p14:creationId xmlns:p14="http://schemas.microsoft.com/office/powerpoint/2010/main" val="253883341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195</TotalTime>
  <Words>995</Words>
  <Application>Microsoft Office PowerPoint</Application>
  <PresentationFormat>Widescreen</PresentationFormat>
  <Paragraphs>72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Cambria Math</vt:lpstr>
      <vt:lpstr>Century Gothic</vt:lpstr>
      <vt:lpstr>KaTeX_Main</vt:lpstr>
      <vt:lpstr>Menlo</vt:lpstr>
      <vt:lpstr>quote-cjk-patch</vt:lpstr>
      <vt:lpstr>Wingdings 3</vt:lpstr>
      <vt:lpstr>Wisp</vt:lpstr>
      <vt:lpstr>ARX Neliniar Gr 11/1</vt:lpstr>
      <vt:lpstr>Descrierea problemei</vt:lpstr>
      <vt:lpstr>ARX </vt:lpstr>
      <vt:lpstr>Descrierea structurii aproximatorului</vt:lpstr>
      <vt:lpstr>Metoda regresiei liniare pentru NARX  (determinarea parametrilor)</vt:lpstr>
      <vt:lpstr>Caracteristici generale</vt:lpstr>
      <vt:lpstr>MODEL OPTIM; na = nb = 6; m = 3; MSE simulare validare = 0.658017; ; </vt:lpstr>
      <vt:lpstr>Predictie</vt:lpstr>
      <vt:lpstr>Simulare</vt:lpstr>
      <vt:lpstr>Pentru modelul optim, erorile sunt:</vt:lpstr>
      <vt:lpstr>Discutie a rezultatelor</vt:lpstr>
      <vt:lpstr>PowerPoint Presentation</vt:lpstr>
      <vt:lpstr>Cod sursa: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Amelie Iulia Motoc</dc:creator>
  <cp:lastModifiedBy>Amelie Iulia Motoc</cp:lastModifiedBy>
  <cp:revision>12</cp:revision>
  <dcterms:created xsi:type="dcterms:W3CDTF">2026-01-03T15:50:47Z</dcterms:created>
  <dcterms:modified xsi:type="dcterms:W3CDTF">2026-01-07T18:20:47Z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58b62f-6f94-46bd-8089-18e64b0a9abb_Enabled">
    <vt:lpwstr>true</vt:lpwstr>
  </property>
  <property fmtid="{D5CDD505-2E9C-101B-9397-08002B2CF9AE}" pid="3" name="MSIP_Label_5b58b62f-6f94-46bd-8089-18e64b0a9abb_SetDate">
    <vt:lpwstr>2026-01-07T17:37:15Z</vt:lpwstr>
  </property>
  <property fmtid="{D5CDD505-2E9C-101B-9397-08002B2CF9AE}" pid="4" name="MSIP_Label_5b58b62f-6f94-46bd-8089-18e64b0a9abb_Method">
    <vt:lpwstr>Standard</vt:lpwstr>
  </property>
  <property fmtid="{D5CDD505-2E9C-101B-9397-08002B2CF9AE}" pid="5" name="MSIP_Label_5b58b62f-6f94-46bd-8089-18e64b0a9abb_Name">
    <vt:lpwstr>defa4170-0d19-0005-0004-bc88714345d2</vt:lpwstr>
  </property>
  <property fmtid="{D5CDD505-2E9C-101B-9397-08002B2CF9AE}" pid="6" name="MSIP_Label_5b58b62f-6f94-46bd-8089-18e64b0a9abb_SiteId">
    <vt:lpwstr>a6eb79fa-c4a9-4cce-818d-b85274d15305</vt:lpwstr>
  </property>
  <property fmtid="{D5CDD505-2E9C-101B-9397-08002B2CF9AE}" pid="7" name="MSIP_Label_5b58b62f-6f94-46bd-8089-18e64b0a9abb_ActionId">
    <vt:lpwstr>55be3e44-f9e1-45ed-84a6-586e05e3833d</vt:lpwstr>
  </property>
  <property fmtid="{D5CDD505-2E9C-101B-9397-08002B2CF9AE}" pid="8" name="MSIP_Label_5b58b62f-6f94-46bd-8089-18e64b0a9abb_ContentBits">
    <vt:lpwstr>0</vt:lpwstr>
  </property>
  <property fmtid="{D5CDD505-2E9C-101B-9397-08002B2CF9AE}" pid="9" name="MSIP_Label_5b58b62f-6f94-46bd-8089-18e64b0a9abb_Tag">
    <vt:lpwstr>10, 3, 0, 1</vt:lpwstr>
  </property>
</Properties>
</file>